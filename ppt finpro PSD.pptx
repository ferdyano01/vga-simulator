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4"/>
  </p:sldMasterIdLst>
  <p:sldIdLst>
    <p:sldId id="256" r:id="rId5"/>
    <p:sldId id="257" r:id="rId6"/>
    <p:sldId id="258" r:id="rId7"/>
    <p:sldId id="260" r:id="rId8"/>
    <p:sldId id="285" r:id="rId9"/>
    <p:sldId id="259" r:id="rId10"/>
    <p:sldId id="261" r:id="rId11"/>
    <p:sldId id="262" r:id="rId12"/>
    <p:sldId id="286" r:id="rId13"/>
    <p:sldId id="287" r:id="rId14"/>
    <p:sldId id="288" r:id="rId15"/>
    <p:sldId id="289" r:id="rId16"/>
    <p:sldId id="290" r:id="rId17"/>
    <p:sldId id="26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439D80-94CA-4423-9258-96CB144A7009}" v="131" dt="2025-12-05T10:46:38.2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5T08:00:46.5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73037-538A-E057-E8D3-B7352C8B59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841CD4-1DBE-88E2-98B7-02DCF0BF3C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7913A6-8675-F08F-2FEE-BE12F12AA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98A05-34FE-4BA8-A221-5B610080EA86}" type="datetimeFigureOut">
              <a:rPr lang="en-ID" smtClean="0"/>
              <a:t>05/12/2025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C26474-9ADB-A46D-D496-FE93A75AE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013EB6-9F4D-E405-DEE7-006EE69EE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73B24-54B7-4A30-8C6D-8658134A985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71520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9BF7E-2243-B6AF-96D9-FD79F511B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0FAD6C-41F6-0438-93FD-C9C093DCAB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1E0F03-44DC-C8EA-0E95-3D8DFBDBA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98A05-34FE-4BA8-A221-5B610080EA86}" type="datetimeFigureOut">
              <a:rPr lang="en-ID" smtClean="0"/>
              <a:t>05/12/2025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458172-2F71-B4AC-A63E-F696A4A2B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DD7E4D-52DF-A8D3-6B5E-646B92D67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73B24-54B7-4A30-8C6D-8658134A985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38992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F1392-7887-56B9-171D-B82ED90BC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1EC267-8BBC-BAE0-16D2-3AF9BC10B0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C4FE6C-606C-86FE-E34D-68D50B4BC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98A05-34FE-4BA8-A221-5B610080EA86}" type="datetimeFigureOut">
              <a:rPr lang="en-ID" smtClean="0"/>
              <a:t>05/12/2025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5836FE-74F4-AC74-FEC9-F19C7F62B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7163EE-3847-498E-4F3E-03345A45A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73B24-54B7-4A30-8C6D-8658134A985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53499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8CCD7-AD88-0A28-C179-92B30C79D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9C1CFE-2945-CD64-854E-DD46C28E5A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AF7486-43C1-A628-E02C-EB24AECDF6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47C46B-25B6-84CB-D725-D1C8C9850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98A05-34FE-4BA8-A221-5B610080EA86}" type="datetimeFigureOut">
              <a:rPr lang="en-ID" smtClean="0"/>
              <a:t>05/12/2025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DB9DD7-6161-00EE-2175-555E2D3DC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4CC405-1B0B-AF96-F2AF-2E14A79CD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73B24-54B7-4A30-8C6D-8658134A985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571360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D2C1F-C5F1-625E-FD24-0557791B4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3113DE-B4D7-CC72-9DD8-5EABE94104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DADD87-FD00-7E65-C48F-36CE341EE3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E58790-2EB3-5811-BB36-0A46857ED6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EB224D-0157-D6A5-F506-3904DFED87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1D0175-DCD5-25D9-1ACD-C4452C4E7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98A05-34FE-4BA8-A221-5B610080EA86}" type="datetimeFigureOut">
              <a:rPr lang="en-ID" smtClean="0"/>
              <a:t>05/12/2025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8D23B6-A609-DA18-277B-71D31BC02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A6796D-7AC4-8452-EFF5-1A846C523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73B24-54B7-4A30-8C6D-8658134A985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4649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FF1CE-D448-52BD-F93C-2F1BAC180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184059-B316-A5F5-BED2-BB0BE692F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98A05-34FE-4BA8-A221-5B610080EA86}" type="datetimeFigureOut">
              <a:rPr lang="en-ID" smtClean="0"/>
              <a:t>05/12/2025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B2CCD4-2C5D-2C9F-86CF-18FAB2039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C157D3-2C34-6D3D-29CE-1B3C83D40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73B24-54B7-4A30-8C6D-8658134A985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97780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C7C23F-B761-1DC3-8BA9-A026FE85E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98A05-34FE-4BA8-A221-5B610080EA86}" type="datetimeFigureOut">
              <a:rPr lang="en-ID" smtClean="0"/>
              <a:t>05/12/2025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2F5FB0-206C-3440-D1FA-57EAB29EE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79E70B-A11B-106B-A55E-CBA6530FA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73B24-54B7-4A30-8C6D-8658134A985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11355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253C2-A747-91DC-E165-ABFC944BC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A1CA0-1A8E-EBDC-7F29-E611F58E6B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05DD8C-B017-774C-1FC8-C502C70141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A1B5C5-C727-F651-D163-51734CC66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98A05-34FE-4BA8-A221-5B610080EA86}" type="datetimeFigureOut">
              <a:rPr lang="en-ID" smtClean="0"/>
              <a:t>05/12/2025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D045B3-5C5D-93FA-D310-EC51D1C7D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0436A5-CFDD-0FDE-A405-C49700BA3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73B24-54B7-4A30-8C6D-8658134A985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18768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CB2FE-F5A8-094F-F312-C94792041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5B8E5C-1640-81A3-AA99-6AAA521AC6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02F366-AE53-684A-72ED-1C37265935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BA79ED-EBD1-DAE1-72BE-FF3020E7D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98A05-34FE-4BA8-A221-5B610080EA86}" type="datetimeFigureOut">
              <a:rPr lang="en-ID" smtClean="0"/>
              <a:t>05/12/2025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6717FB-B04C-42C0-0912-FD17376C6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925D45-A8F0-C54B-52DD-0A8168F65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73B24-54B7-4A30-8C6D-8658134A985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86614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06A06-CA62-5154-EB39-D28949311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2F0054-3779-DB72-C087-F65C7FABF5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495C2E-AF64-407B-6B8D-A1E1816C5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98A05-34FE-4BA8-A221-5B610080EA86}" type="datetimeFigureOut">
              <a:rPr lang="en-ID" smtClean="0"/>
              <a:t>05/12/2025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6E9A77-1852-D2DB-B53A-3DD4F59E9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B96A3F-83FC-C132-BF1B-2C4F325F4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73B24-54B7-4A30-8C6D-8658134A985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99549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B1B035-6847-B6C4-8571-8847325701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8950E1-85D6-D198-64E7-45A492CE85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B8FD15-36D9-5655-1F44-93E9DDBED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98A05-34FE-4BA8-A221-5B610080EA86}" type="datetimeFigureOut">
              <a:rPr lang="en-ID" smtClean="0"/>
              <a:t>05/12/2025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60BFF0-3AD0-DC4B-771B-D66D7D3E0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FB9B90-BC92-01F5-14E7-995DE2DB3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73B24-54B7-4A30-8C6D-8658134A985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36367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A39A55-EFD1-D27C-E150-94DBBD0C6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D71CE5-D50B-655E-B32C-E8F050B6A1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784ACB-441C-79E2-605A-599150F410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698A05-34FE-4BA8-A221-5B610080EA86}" type="datetimeFigureOut">
              <a:rPr lang="en-ID" smtClean="0"/>
              <a:t>05/12/2025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58E766-E306-7C14-84EF-BF6B646433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51D81B-18D6-6660-856F-0B8373E29D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973B24-54B7-4A30-8C6D-8658134A985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41109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ilhouette of a person holding an apple&#10;&#10;AI-generated content may be incorrect.">
            <a:extLst>
              <a:ext uri="{FF2B5EF4-FFF2-40B4-BE49-F238E27FC236}">
                <a16:creationId xmlns:a16="http://schemas.microsoft.com/office/drawing/2014/main" id="{F0435BC3-1466-ACC6-A934-B397BCEE6C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91" r="22149" b="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2490BB-36D3-4FFE-395A-AD581148E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solidFill>
                  <a:schemeClr val="bg1"/>
                </a:solidFill>
              </a:rPr>
              <a:t>Kelompok</a:t>
            </a:r>
            <a:r>
              <a:rPr lang="en-US" sz="4800" dirty="0">
                <a:solidFill>
                  <a:schemeClr val="bg1"/>
                </a:solidFill>
              </a:rPr>
              <a:t> 19</a:t>
            </a:r>
            <a:br>
              <a:rPr lang="en-US" sz="4800" dirty="0">
                <a:solidFill>
                  <a:schemeClr val="bg1"/>
                </a:solidFill>
              </a:rPr>
            </a:br>
            <a:br>
              <a:rPr lang="en-US" sz="4800" dirty="0">
                <a:solidFill>
                  <a:schemeClr val="bg1"/>
                </a:solidFill>
              </a:rPr>
            </a:br>
            <a:endParaRPr lang="en-ID" sz="4800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B573DA-2761-BF48-414E-96696EE3F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r>
              <a:rPr lang="en-US" sz="1100" dirty="0">
                <a:solidFill>
                  <a:schemeClr val="bg1"/>
                </a:solidFill>
              </a:rPr>
              <a:t>Ferdyano                                                          (</a:t>
            </a:r>
            <a:r>
              <a:rPr lang="en-ID" sz="1100" dirty="0">
                <a:solidFill>
                  <a:schemeClr val="bg1"/>
                </a:solidFill>
              </a:rPr>
              <a:t>2406353723</a:t>
            </a:r>
            <a:r>
              <a:rPr lang="en-US" sz="1100" dirty="0">
                <a:solidFill>
                  <a:schemeClr val="bg1"/>
                </a:solidFill>
              </a:rPr>
              <a:t>)</a:t>
            </a:r>
          </a:p>
          <a:p>
            <a:pPr algn="l"/>
            <a:r>
              <a:rPr lang="en-ID" sz="1100" dirty="0">
                <a:solidFill>
                  <a:schemeClr val="bg1"/>
                </a:solidFill>
              </a:rPr>
              <a:t>Mohamad Rizky </a:t>
            </a:r>
            <a:r>
              <a:rPr lang="en-ID" sz="1100" dirty="0" err="1">
                <a:solidFill>
                  <a:schemeClr val="bg1"/>
                </a:solidFill>
              </a:rPr>
              <a:t>Alamsyah</a:t>
            </a:r>
            <a:r>
              <a:rPr lang="en-ID" sz="1100" dirty="0">
                <a:solidFill>
                  <a:schemeClr val="bg1"/>
                </a:solidFill>
              </a:rPr>
              <a:t>                      (2406420892)</a:t>
            </a:r>
          </a:p>
          <a:p>
            <a:pPr algn="l"/>
            <a:r>
              <a:rPr lang="en-ID" sz="1100" dirty="0">
                <a:solidFill>
                  <a:schemeClr val="bg1"/>
                </a:solidFill>
              </a:rPr>
              <a:t>Valiant Joshua                                               (2406352153)</a:t>
            </a:r>
          </a:p>
          <a:p>
            <a:pPr algn="l"/>
            <a:r>
              <a:rPr lang="en-ID" sz="1100" dirty="0" err="1">
                <a:solidFill>
                  <a:schemeClr val="bg1"/>
                </a:solidFill>
              </a:rPr>
              <a:t>Jesaya</a:t>
            </a:r>
            <a:r>
              <a:rPr lang="en-ID" sz="1100" dirty="0">
                <a:solidFill>
                  <a:schemeClr val="bg1"/>
                </a:solidFill>
              </a:rPr>
              <a:t> </a:t>
            </a:r>
            <a:r>
              <a:rPr lang="en-ID" sz="1100" dirty="0" err="1">
                <a:solidFill>
                  <a:schemeClr val="bg1"/>
                </a:solidFill>
              </a:rPr>
              <a:t>Hamonangan</a:t>
            </a:r>
            <a:r>
              <a:rPr lang="en-ID" sz="1100" dirty="0">
                <a:solidFill>
                  <a:schemeClr val="bg1"/>
                </a:solidFill>
              </a:rPr>
              <a:t> </a:t>
            </a:r>
            <a:r>
              <a:rPr lang="en-ID" sz="1100" dirty="0" err="1">
                <a:solidFill>
                  <a:schemeClr val="bg1"/>
                </a:solidFill>
              </a:rPr>
              <a:t>Gaudensius</a:t>
            </a:r>
            <a:r>
              <a:rPr lang="en-ID" sz="1100" dirty="0">
                <a:solidFill>
                  <a:schemeClr val="bg1"/>
                </a:solidFill>
              </a:rPr>
              <a:t> M.(2406409845)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2656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F1EE9-5B3A-3C4A-3600-119970FDB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 dirty="0"/>
          </a:p>
        </p:txBody>
      </p:sp>
      <p:pic>
        <p:nvPicPr>
          <p:cNvPr id="14" name="Content Placeholder 1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FC2C7606-5288-EC9E-048E-31AB7E92FF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9774" y="89757"/>
            <a:ext cx="3905343" cy="2525427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16" name="Picture 15" descr="A shadow of a person's head&#10;&#10;AI-generated content may be incorrect.">
            <a:extLst>
              <a:ext uri="{FF2B5EF4-FFF2-40B4-BE49-F238E27FC236}">
                <a16:creationId xmlns:a16="http://schemas.microsoft.com/office/drawing/2014/main" id="{2F3483B3-0791-8967-C8B5-17C5864574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6640" y="89757"/>
            <a:ext cx="3991966" cy="2525427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18" name="Picture 17" descr="A silhouette of a person&#10;&#10;AI-generated content may be incorrect.">
            <a:extLst>
              <a:ext uri="{FF2B5EF4-FFF2-40B4-BE49-F238E27FC236}">
                <a16:creationId xmlns:a16="http://schemas.microsoft.com/office/drawing/2014/main" id="{4D8FA132-B90C-219F-FEC1-07FF5DDFB4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9677" y="27225"/>
            <a:ext cx="3692323" cy="2587959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20" name="Picture 19" descr="A silhouette of a person with wings&#10;&#10;AI-generated content may be incorrect.">
            <a:extLst>
              <a:ext uri="{FF2B5EF4-FFF2-40B4-BE49-F238E27FC236}">
                <a16:creationId xmlns:a16="http://schemas.microsoft.com/office/drawing/2014/main" id="{E03314DD-FCDC-D558-532B-E5EB22562A3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26" y="3034966"/>
            <a:ext cx="3825343" cy="2222834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22" name="Picture 21" descr="A silhouette of a person&#10;&#10;AI-generated content may be incorrect.">
            <a:extLst>
              <a:ext uri="{FF2B5EF4-FFF2-40B4-BE49-F238E27FC236}">
                <a16:creationId xmlns:a16="http://schemas.microsoft.com/office/drawing/2014/main" id="{25AC1F8F-CEED-08C9-19B9-550594916A6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6402" y="3034966"/>
            <a:ext cx="3499196" cy="2222834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24" name="Picture 23" descr="A silhouette of a child&#10;&#10;AI-generated content may be incorrect.">
            <a:extLst>
              <a:ext uri="{FF2B5EF4-FFF2-40B4-BE49-F238E27FC236}">
                <a16:creationId xmlns:a16="http://schemas.microsoft.com/office/drawing/2014/main" id="{925FE565-5F1F-0CC9-A18B-D6F270F2139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7683" y="2954179"/>
            <a:ext cx="3695738" cy="2303621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595655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black and white image of a person&#10;&#10;AI-generated content may be incorrect.">
            <a:extLst>
              <a:ext uri="{FF2B5EF4-FFF2-40B4-BE49-F238E27FC236}">
                <a16:creationId xmlns:a16="http://schemas.microsoft.com/office/drawing/2014/main" id="{66918DD9-4EAF-2932-7FA0-998C327009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12" y="1837373"/>
            <a:ext cx="5506971" cy="30775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312BA259-017F-2440-D389-91FA66F59CCA}"/>
              </a:ext>
            </a:extLst>
          </p:cNvPr>
          <p:cNvSpPr/>
          <p:nvPr/>
        </p:nvSpPr>
        <p:spPr>
          <a:xfrm>
            <a:off x="6096000" y="3214846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2" name="Picture 11" descr="A grid of black and white squares&#10;&#10;AI-generated content may be incorrect.">
            <a:extLst>
              <a:ext uri="{FF2B5EF4-FFF2-40B4-BE49-F238E27FC236}">
                <a16:creationId xmlns:a16="http://schemas.microsoft.com/office/drawing/2014/main" id="{0B34F58D-1987-473D-02D5-32BBDD3C12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2525" y="1625220"/>
            <a:ext cx="4101275" cy="408304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42315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8BE82-EC13-E5C3-5797-781A4B512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598" y="771099"/>
            <a:ext cx="3302758" cy="551715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D" sz="1200" dirty="0"/>
              <a:t>library </a:t>
            </a:r>
            <a:r>
              <a:rPr lang="en-ID" sz="1200" dirty="0" err="1"/>
              <a:t>ieee</a:t>
            </a:r>
            <a:r>
              <a:rPr lang="en-ID" sz="1200" dirty="0"/>
              <a:t>;</a:t>
            </a:r>
          </a:p>
          <a:p>
            <a:pPr marL="0" indent="0">
              <a:buNone/>
            </a:pPr>
            <a:r>
              <a:rPr lang="en-ID" sz="1200" dirty="0"/>
              <a:t>use ieee.std_logic_1164.all;</a:t>
            </a:r>
          </a:p>
          <a:p>
            <a:pPr marL="0" indent="0">
              <a:buNone/>
            </a:pPr>
            <a:r>
              <a:rPr lang="en-ID" sz="1200" dirty="0"/>
              <a:t>use </a:t>
            </a:r>
            <a:r>
              <a:rPr lang="en-ID" sz="1200" dirty="0" err="1"/>
              <a:t>ieee.numeric_std.all</a:t>
            </a:r>
            <a:r>
              <a:rPr lang="en-ID" sz="1200" dirty="0"/>
              <a:t>;</a:t>
            </a:r>
          </a:p>
          <a:p>
            <a:pPr marL="0" indent="0">
              <a:buNone/>
            </a:pPr>
            <a:endParaRPr lang="en-ID" sz="1200" dirty="0"/>
          </a:p>
          <a:p>
            <a:pPr marL="0" indent="0">
              <a:buNone/>
            </a:pPr>
            <a:r>
              <a:rPr lang="en-ID" sz="1200" dirty="0"/>
              <a:t>entity VGA is</a:t>
            </a:r>
          </a:p>
          <a:p>
            <a:pPr marL="0" indent="0">
              <a:buNone/>
            </a:pPr>
            <a:r>
              <a:rPr lang="en-ID" sz="1200" dirty="0"/>
              <a:t>    generic (</a:t>
            </a:r>
          </a:p>
          <a:p>
            <a:pPr marL="0" indent="0">
              <a:buNone/>
            </a:pPr>
            <a:r>
              <a:rPr lang="en-ID" sz="1200" dirty="0"/>
              <a:t>        H_TOTAL : integer := 800;</a:t>
            </a:r>
          </a:p>
          <a:p>
            <a:pPr marL="0" indent="0">
              <a:buNone/>
            </a:pPr>
            <a:r>
              <a:rPr lang="en-ID" sz="1200" dirty="0"/>
              <a:t>        V_TOTAL : integer := 525</a:t>
            </a:r>
          </a:p>
          <a:p>
            <a:pPr marL="0" indent="0">
              <a:buNone/>
            </a:pPr>
            <a:r>
              <a:rPr lang="en-ID" sz="1200" dirty="0"/>
              <a:t>    );</a:t>
            </a:r>
          </a:p>
          <a:p>
            <a:pPr marL="0" indent="0">
              <a:buNone/>
            </a:pPr>
            <a:r>
              <a:rPr lang="en-ID" sz="1200" dirty="0"/>
              <a:t>    port (</a:t>
            </a:r>
          </a:p>
          <a:p>
            <a:pPr marL="0" indent="0">
              <a:buNone/>
            </a:pPr>
            <a:r>
              <a:rPr lang="en-ID" sz="1200" dirty="0"/>
              <a:t>        </a:t>
            </a:r>
            <a:r>
              <a:rPr lang="en-ID" sz="1200" dirty="0" err="1"/>
              <a:t>clock_in</a:t>
            </a:r>
            <a:r>
              <a:rPr lang="en-ID" sz="1200" dirty="0"/>
              <a:t> : in </a:t>
            </a:r>
            <a:r>
              <a:rPr lang="en-ID" sz="1200" dirty="0" err="1"/>
              <a:t>std_logic</a:t>
            </a:r>
            <a:r>
              <a:rPr lang="en-ID" sz="1200" dirty="0"/>
              <a:t>;</a:t>
            </a:r>
          </a:p>
          <a:p>
            <a:pPr marL="0" indent="0">
              <a:buNone/>
            </a:pPr>
            <a:r>
              <a:rPr lang="en-ID" sz="1200" dirty="0"/>
              <a:t>        </a:t>
            </a:r>
            <a:r>
              <a:rPr lang="en-ID" sz="1200" dirty="0" err="1"/>
              <a:t>reset_n</a:t>
            </a:r>
            <a:r>
              <a:rPr lang="en-ID" sz="1200" dirty="0"/>
              <a:t>  : in </a:t>
            </a:r>
            <a:r>
              <a:rPr lang="en-ID" sz="1200" dirty="0" err="1"/>
              <a:t>std_logic</a:t>
            </a:r>
            <a:r>
              <a:rPr lang="en-ID" sz="1200" dirty="0"/>
              <a:t>;</a:t>
            </a:r>
          </a:p>
          <a:p>
            <a:pPr marL="0" indent="0">
              <a:buNone/>
            </a:pPr>
            <a:r>
              <a:rPr lang="en-ID" sz="1200" dirty="0"/>
              <a:t>        </a:t>
            </a:r>
            <a:r>
              <a:rPr lang="en-ID" sz="1200" dirty="0" err="1"/>
              <a:t>h_output</a:t>
            </a:r>
            <a:r>
              <a:rPr lang="en-ID" sz="1200" dirty="0"/>
              <a:t> : out </a:t>
            </a:r>
            <a:r>
              <a:rPr lang="en-ID" sz="1200" dirty="0" err="1"/>
              <a:t>std_logic</a:t>
            </a:r>
            <a:r>
              <a:rPr lang="en-ID" sz="1200" dirty="0"/>
              <a:t>;</a:t>
            </a:r>
          </a:p>
          <a:p>
            <a:pPr marL="0" indent="0">
              <a:buNone/>
            </a:pPr>
            <a:r>
              <a:rPr lang="en-ID" sz="1200" dirty="0"/>
              <a:t>        </a:t>
            </a:r>
            <a:r>
              <a:rPr lang="en-ID" sz="1200" dirty="0" err="1"/>
              <a:t>v_output</a:t>
            </a:r>
            <a:r>
              <a:rPr lang="en-ID" sz="1200" dirty="0"/>
              <a:t> : out </a:t>
            </a:r>
            <a:r>
              <a:rPr lang="en-ID" sz="1200" dirty="0" err="1"/>
              <a:t>std_logic</a:t>
            </a:r>
            <a:r>
              <a:rPr lang="en-ID" sz="1200" dirty="0"/>
              <a:t>;</a:t>
            </a:r>
          </a:p>
          <a:p>
            <a:pPr marL="0" indent="0">
              <a:buNone/>
            </a:pPr>
            <a:r>
              <a:rPr lang="en-ID" sz="1200" dirty="0"/>
              <a:t>        </a:t>
            </a:r>
            <a:r>
              <a:rPr lang="en-ID" sz="1200" dirty="0" err="1"/>
              <a:t>x_out</a:t>
            </a:r>
            <a:r>
              <a:rPr lang="en-ID" sz="1200" dirty="0"/>
              <a:t>    : out integer range 0 to H_TOTAL - 1;</a:t>
            </a:r>
          </a:p>
          <a:p>
            <a:pPr marL="0" indent="0">
              <a:buNone/>
            </a:pPr>
            <a:r>
              <a:rPr lang="en-ID" sz="1200" dirty="0"/>
              <a:t>        </a:t>
            </a:r>
            <a:r>
              <a:rPr lang="en-ID" sz="1200" dirty="0" err="1"/>
              <a:t>y_out</a:t>
            </a:r>
            <a:r>
              <a:rPr lang="en-ID" sz="1200" dirty="0"/>
              <a:t>    : out integer range 0 to V_TOTAL - 1;</a:t>
            </a:r>
          </a:p>
          <a:p>
            <a:pPr marL="0" indent="0">
              <a:buNone/>
            </a:pPr>
            <a:r>
              <a:rPr lang="en-ID" sz="1200" dirty="0"/>
              <a:t>        </a:t>
            </a:r>
            <a:r>
              <a:rPr lang="en-ID" sz="1200" dirty="0" err="1"/>
              <a:t>video_on</a:t>
            </a:r>
            <a:r>
              <a:rPr lang="en-ID" sz="1200" dirty="0"/>
              <a:t> : out </a:t>
            </a:r>
            <a:r>
              <a:rPr lang="en-ID" sz="1200" dirty="0" err="1"/>
              <a:t>std_logic</a:t>
            </a:r>
            <a:endParaRPr lang="en-ID" sz="1200" dirty="0"/>
          </a:p>
          <a:p>
            <a:pPr marL="0" indent="0">
              <a:buNone/>
            </a:pPr>
            <a:r>
              <a:rPr lang="en-ID" sz="1200" dirty="0"/>
              <a:t>    );</a:t>
            </a:r>
          </a:p>
          <a:p>
            <a:pPr marL="0" indent="0">
              <a:buNone/>
            </a:pPr>
            <a:r>
              <a:rPr lang="en-ID" sz="1200" dirty="0"/>
              <a:t>end entity;</a:t>
            </a:r>
          </a:p>
        </p:txBody>
      </p:sp>
      <p:pic>
        <p:nvPicPr>
          <p:cNvPr id="1026" name="Picture 2" descr="AMD Xilinx - YouTube">
            <a:extLst>
              <a:ext uri="{FF2B5EF4-FFF2-40B4-BE49-F238E27FC236}">
                <a16:creationId xmlns:a16="http://schemas.microsoft.com/office/drawing/2014/main" id="{599585CB-7952-FA82-D662-D74F4A298F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3264" y="2221696"/>
            <a:ext cx="1552208" cy="1552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Visual Studio Code - Download and install on Windows | Microsoft Store">
            <a:extLst>
              <a:ext uri="{FF2B5EF4-FFF2-40B4-BE49-F238E27FC236}">
                <a16:creationId xmlns:a16="http://schemas.microsoft.com/office/drawing/2014/main" id="{3EFEFB21-B7B7-F3E7-64FF-3165693055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379" y="2450697"/>
            <a:ext cx="1152312" cy="1152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Bad Apple!! Images - LaunchBox Games Database">
            <a:extLst>
              <a:ext uri="{FF2B5EF4-FFF2-40B4-BE49-F238E27FC236}">
                <a16:creationId xmlns:a16="http://schemas.microsoft.com/office/drawing/2014/main" id="{BC8B5F03-77B0-C10A-A53C-FE5FF501F1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1078" y="2026728"/>
            <a:ext cx="2286000" cy="2000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04E6189-5D3E-74BE-53CA-5B3494ECEFAE}"/>
              </a:ext>
            </a:extLst>
          </p:cNvPr>
          <p:cNvCxnSpPr/>
          <p:nvPr/>
        </p:nvCxnSpPr>
        <p:spPr>
          <a:xfrm>
            <a:off x="5424985" y="2997800"/>
            <a:ext cx="60050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0C14732-0A15-11DD-3F4E-3067F9427EA9}"/>
              </a:ext>
            </a:extLst>
          </p:cNvPr>
          <p:cNvCxnSpPr/>
          <p:nvPr/>
        </p:nvCxnSpPr>
        <p:spPr>
          <a:xfrm>
            <a:off x="7617726" y="2997800"/>
            <a:ext cx="60050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487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0A1B808-FB0C-407C-622E-26C0227F6C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9316" y="1253331"/>
            <a:ext cx="10515600" cy="4351338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D" dirty="0"/>
              <a:t>architecture </a:t>
            </a:r>
            <a:r>
              <a:rPr lang="en-ID" dirty="0" err="1"/>
              <a:t>behavior</a:t>
            </a:r>
            <a:r>
              <a:rPr lang="en-ID" dirty="0"/>
              <a:t> of VGA is</a:t>
            </a:r>
          </a:p>
          <a:p>
            <a:pPr marL="0" indent="0">
              <a:buNone/>
            </a:pPr>
            <a:r>
              <a:rPr lang="en-ID" dirty="0"/>
              <a:t>    constant H_VISIBLE : integer := 640;</a:t>
            </a:r>
          </a:p>
          <a:p>
            <a:pPr marL="0" indent="0">
              <a:buNone/>
            </a:pPr>
            <a:r>
              <a:rPr lang="en-ID" dirty="0"/>
              <a:t>    constant H_FRONT   : integer := 16;</a:t>
            </a:r>
          </a:p>
          <a:p>
            <a:pPr marL="0" indent="0">
              <a:buNone/>
            </a:pPr>
            <a:r>
              <a:rPr lang="en-ID" dirty="0"/>
              <a:t>    constant H_SYNC    : integer := 96;</a:t>
            </a:r>
          </a:p>
          <a:p>
            <a:pPr marL="0" indent="0">
              <a:buNone/>
            </a:pPr>
            <a:r>
              <a:rPr lang="en-ID" dirty="0"/>
              <a:t>    constant H_BACK    : integer := 48;</a:t>
            </a:r>
          </a:p>
          <a:p>
            <a:pPr marL="0" indent="0">
              <a:buNone/>
            </a:pPr>
            <a:endParaRPr lang="en-ID" dirty="0"/>
          </a:p>
          <a:p>
            <a:pPr marL="0" indent="0">
              <a:buNone/>
            </a:pPr>
            <a:r>
              <a:rPr lang="en-ID" dirty="0"/>
              <a:t>    constant V_VISIBLE : integer := 480;</a:t>
            </a:r>
          </a:p>
          <a:p>
            <a:pPr marL="0" indent="0">
              <a:buNone/>
            </a:pPr>
            <a:r>
              <a:rPr lang="en-ID" dirty="0"/>
              <a:t>    constant V_FRONT   : integer := 10;</a:t>
            </a:r>
          </a:p>
          <a:p>
            <a:pPr marL="0" indent="0">
              <a:buNone/>
            </a:pPr>
            <a:r>
              <a:rPr lang="en-ID" dirty="0"/>
              <a:t>    constant V_SYNC    : integer := 2;</a:t>
            </a:r>
          </a:p>
          <a:p>
            <a:pPr marL="0" indent="0">
              <a:buNone/>
            </a:pPr>
            <a:r>
              <a:rPr lang="en-ID" dirty="0"/>
              <a:t>    constant V_BACK    : integer := 33;</a:t>
            </a:r>
          </a:p>
          <a:p>
            <a:pPr marL="0" indent="0">
              <a:buNone/>
            </a:pPr>
            <a:endParaRPr lang="en-ID" dirty="0"/>
          </a:p>
          <a:p>
            <a:pPr marL="0" indent="0">
              <a:buNone/>
            </a:pPr>
            <a:r>
              <a:rPr lang="en-ID" dirty="0"/>
              <a:t>    -- H &amp; V Count</a:t>
            </a:r>
          </a:p>
          <a:p>
            <a:pPr marL="0" indent="0">
              <a:buNone/>
            </a:pPr>
            <a:r>
              <a:rPr lang="en-ID" dirty="0"/>
              <a:t>    signal </a:t>
            </a:r>
            <a:r>
              <a:rPr lang="en-ID" dirty="0" err="1"/>
              <a:t>h_count</a:t>
            </a:r>
            <a:r>
              <a:rPr lang="en-ID" dirty="0"/>
              <a:t> : integer range 0 to H_TOTAL - 1 := 0;</a:t>
            </a:r>
          </a:p>
          <a:p>
            <a:pPr marL="0" indent="0">
              <a:buNone/>
            </a:pPr>
            <a:r>
              <a:rPr lang="en-ID" dirty="0"/>
              <a:t>    signal </a:t>
            </a:r>
            <a:r>
              <a:rPr lang="en-ID" dirty="0" err="1"/>
              <a:t>v_count</a:t>
            </a:r>
            <a:r>
              <a:rPr lang="en-ID" dirty="0"/>
              <a:t> : integer range 0 to V_TOTAL - 1 := 0;</a:t>
            </a:r>
          </a:p>
          <a:p>
            <a:pPr marL="0" indent="0">
              <a:buNone/>
            </a:pPr>
            <a:r>
              <a:rPr lang="en-ID" dirty="0"/>
              <a:t>begin</a:t>
            </a:r>
          </a:p>
        </p:txBody>
      </p:sp>
      <p:pic>
        <p:nvPicPr>
          <p:cNvPr id="2052" name="Picture 4" descr="Back icon | Freepik">
            <a:extLst>
              <a:ext uri="{FF2B5EF4-FFF2-40B4-BE49-F238E27FC236}">
                <a16:creationId xmlns:a16="http://schemas.microsoft.com/office/drawing/2014/main" id="{90A7FB48-853C-62FC-F0AC-4922F7EFFB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662" y="2260158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Best Sync Icon Set for Seamless Data Synchronization">
            <a:extLst>
              <a:ext uri="{FF2B5EF4-FFF2-40B4-BE49-F238E27FC236}">
                <a16:creationId xmlns:a16="http://schemas.microsoft.com/office/drawing/2014/main" id="{CC3AFAD9-337E-4517-DCB6-D5EBD031B1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6653" y="2260158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Visible Icon Vector Sign and Symbol Isolated on White Background, Visible  Logo Concept Stock Vector - Illustration of outline, sign: 134599231">
            <a:extLst>
              <a:ext uri="{FF2B5EF4-FFF2-40B4-BE49-F238E27FC236}">
                <a16:creationId xmlns:a16="http://schemas.microsoft.com/office/drawing/2014/main" id="{5FF7D2FB-A159-BE95-CF6C-A21662BF99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0148" y="0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3258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id of black and white squares&#10;&#10;AI-generated content may be incorrect.">
            <a:extLst>
              <a:ext uri="{FF2B5EF4-FFF2-40B4-BE49-F238E27FC236}">
                <a16:creationId xmlns:a16="http://schemas.microsoft.com/office/drawing/2014/main" id="{A2E5B16B-4157-9932-9B1D-F2AF3037BA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497" y="1027906"/>
            <a:ext cx="2789719" cy="27773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C98D804-CE35-A190-CE11-B5BFA9C68924}"/>
                  </a:ext>
                </a:extLst>
              </p14:cNvPr>
              <p14:cNvContentPartPr/>
              <p14:nvPr/>
            </p14:nvContentPartPr>
            <p14:xfrm>
              <a:off x="5117701" y="886691"/>
              <a:ext cx="360" cy="3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C98D804-CE35-A190-CE11-B5BFA9C6892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11581" y="880571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61588975-E6D6-A6E7-A9D3-1051CC01A9CF}"/>
              </a:ext>
            </a:extLst>
          </p:cNvPr>
          <p:cNvSpPr txBox="1"/>
          <p:nvPr/>
        </p:nvSpPr>
        <p:spPr>
          <a:xfrm>
            <a:off x="3978322" y="1080620"/>
            <a:ext cx="7374398" cy="5083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process(</a:t>
            </a:r>
            <a:r>
              <a:rPr lang="en-US" dirty="0" err="1"/>
              <a:t>clock_in</a:t>
            </a:r>
            <a:r>
              <a:rPr lang="en-US" dirty="0"/>
              <a:t>, </a:t>
            </a:r>
            <a:r>
              <a:rPr lang="en-US" dirty="0" err="1"/>
              <a:t>reset_n</a:t>
            </a:r>
            <a:r>
              <a:rPr lang="en-US" dirty="0"/>
              <a:t>) </a:t>
            </a:r>
          </a:p>
          <a:p>
            <a:r>
              <a:rPr lang="en-US" dirty="0"/>
              <a:t>    begin</a:t>
            </a:r>
          </a:p>
          <a:p>
            <a:r>
              <a:rPr lang="en-US" dirty="0"/>
              <a:t>            if (</a:t>
            </a:r>
            <a:r>
              <a:rPr lang="en-US" dirty="0" err="1"/>
              <a:t>reset_n</a:t>
            </a:r>
            <a:r>
              <a:rPr lang="en-US" dirty="0"/>
              <a:t> = '0') then              --reset asserted</a:t>
            </a:r>
          </a:p>
          <a:p>
            <a:r>
              <a:rPr lang="en-US" dirty="0"/>
              <a:t>                </a:t>
            </a:r>
            <a:r>
              <a:rPr lang="en-US" dirty="0" err="1"/>
              <a:t>h_count</a:t>
            </a:r>
            <a:r>
              <a:rPr lang="en-US" dirty="0"/>
              <a:t> &lt;= 0;                    --reset horizontal counter</a:t>
            </a:r>
          </a:p>
          <a:p>
            <a:r>
              <a:rPr lang="en-US" dirty="0"/>
              <a:t>                </a:t>
            </a:r>
            <a:r>
              <a:rPr lang="en-US" dirty="0" err="1"/>
              <a:t>v_count</a:t>
            </a:r>
            <a:r>
              <a:rPr lang="en-US" dirty="0"/>
              <a:t> &lt;= 0;                    --reset vertical counter</a:t>
            </a:r>
          </a:p>
          <a:p>
            <a:r>
              <a:rPr lang="en-US" dirty="0"/>
              <a:t>            </a:t>
            </a:r>
            <a:r>
              <a:rPr lang="en-US" dirty="0" err="1"/>
              <a:t>elsif</a:t>
            </a:r>
            <a:r>
              <a:rPr lang="en-US" dirty="0"/>
              <a:t> </a:t>
            </a:r>
            <a:r>
              <a:rPr lang="en-US" dirty="0" err="1"/>
              <a:t>rising_edge</a:t>
            </a:r>
            <a:r>
              <a:rPr lang="en-US" dirty="0"/>
              <a:t>(</a:t>
            </a:r>
            <a:r>
              <a:rPr lang="en-US" dirty="0" err="1"/>
              <a:t>clock_in</a:t>
            </a:r>
            <a:r>
              <a:rPr lang="en-US" dirty="0"/>
              <a:t>) then</a:t>
            </a:r>
          </a:p>
          <a:p>
            <a:r>
              <a:rPr lang="en-US" dirty="0"/>
              <a:t>                IF(</a:t>
            </a:r>
            <a:r>
              <a:rPr lang="en-US" dirty="0" err="1"/>
              <a:t>h_count</a:t>
            </a:r>
            <a:r>
              <a:rPr lang="en-US" dirty="0"/>
              <a:t> &lt; H_TOTAL - 1) THEN      --horizontal counter (pixels)</a:t>
            </a:r>
          </a:p>
          <a:p>
            <a:r>
              <a:rPr lang="en-US" dirty="0"/>
              <a:t>                    </a:t>
            </a:r>
            <a:r>
              <a:rPr lang="en-US" dirty="0" err="1"/>
              <a:t>h_count</a:t>
            </a:r>
            <a:r>
              <a:rPr lang="en-US" dirty="0"/>
              <a:t> &lt;= </a:t>
            </a:r>
            <a:r>
              <a:rPr lang="en-US" dirty="0" err="1"/>
              <a:t>h_count</a:t>
            </a:r>
            <a:r>
              <a:rPr lang="en-US" dirty="0"/>
              <a:t> + 1;</a:t>
            </a:r>
          </a:p>
          <a:p>
            <a:r>
              <a:rPr lang="en-US" dirty="0"/>
              <a:t>                ELSE</a:t>
            </a:r>
          </a:p>
          <a:p>
            <a:r>
              <a:rPr lang="en-US" dirty="0"/>
              <a:t>                    </a:t>
            </a:r>
            <a:r>
              <a:rPr lang="en-US" dirty="0" err="1"/>
              <a:t>h_count</a:t>
            </a:r>
            <a:r>
              <a:rPr lang="en-US" dirty="0"/>
              <a:t> &lt;= 0;</a:t>
            </a:r>
          </a:p>
          <a:p>
            <a:r>
              <a:rPr lang="en-US" dirty="0"/>
              <a:t>                    IF(</a:t>
            </a:r>
            <a:r>
              <a:rPr lang="en-US" dirty="0" err="1"/>
              <a:t>v_count</a:t>
            </a:r>
            <a:r>
              <a:rPr lang="en-US" dirty="0"/>
              <a:t> &lt; V_TOTAL - 1) THEN  --</a:t>
            </a:r>
            <a:r>
              <a:rPr lang="en-US" dirty="0" err="1"/>
              <a:t>veritcal</a:t>
            </a:r>
            <a:r>
              <a:rPr lang="en-US" dirty="0"/>
              <a:t> counter (rows)</a:t>
            </a:r>
          </a:p>
          <a:p>
            <a:r>
              <a:rPr lang="en-US" dirty="0"/>
              <a:t>                        </a:t>
            </a:r>
            <a:r>
              <a:rPr lang="en-US" dirty="0" err="1"/>
              <a:t>v_count</a:t>
            </a:r>
            <a:r>
              <a:rPr lang="en-US" dirty="0"/>
              <a:t> &lt;= </a:t>
            </a:r>
            <a:r>
              <a:rPr lang="en-US" dirty="0" err="1"/>
              <a:t>v_count</a:t>
            </a:r>
            <a:r>
              <a:rPr lang="en-US" dirty="0"/>
              <a:t> + 1;</a:t>
            </a:r>
          </a:p>
          <a:p>
            <a:r>
              <a:rPr lang="en-US" dirty="0"/>
              <a:t>                    ELSE</a:t>
            </a:r>
          </a:p>
          <a:p>
            <a:r>
              <a:rPr lang="en-US" dirty="0"/>
              <a:t>                        </a:t>
            </a:r>
            <a:r>
              <a:rPr lang="en-US" dirty="0" err="1"/>
              <a:t>v_count</a:t>
            </a:r>
            <a:r>
              <a:rPr lang="en-US" dirty="0"/>
              <a:t> &lt;= 0;</a:t>
            </a:r>
          </a:p>
          <a:p>
            <a:r>
              <a:rPr lang="en-US" dirty="0"/>
              <a:t>                    END IF;</a:t>
            </a:r>
          </a:p>
          <a:p>
            <a:r>
              <a:rPr lang="en-US" dirty="0"/>
              <a:t>                END IF;</a:t>
            </a:r>
          </a:p>
          <a:p>
            <a:r>
              <a:rPr lang="en-US" dirty="0"/>
              <a:t>            end if;</a:t>
            </a:r>
          </a:p>
          <a:p>
            <a:r>
              <a:rPr lang="en-US" dirty="0"/>
              <a:t>    end process;</a:t>
            </a:r>
            <a:endParaRPr lang="en-ID" dirty="0"/>
          </a:p>
        </p:txBody>
      </p:sp>
      <p:sp>
        <p:nvSpPr>
          <p:cNvPr id="17" name="Arrow: Curved Down 16">
            <a:extLst>
              <a:ext uri="{FF2B5EF4-FFF2-40B4-BE49-F238E27FC236}">
                <a16:creationId xmlns:a16="http://schemas.microsoft.com/office/drawing/2014/main" id="{3DE06A10-8D61-93BE-824D-0DE9D4DA22B9}"/>
              </a:ext>
            </a:extLst>
          </p:cNvPr>
          <p:cNvSpPr/>
          <p:nvPr/>
        </p:nvSpPr>
        <p:spPr>
          <a:xfrm>
            <a:off x="3138985" y="570702"/>
            <a:ext cx="1165444" cy="457204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4054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lose-up of a graph&#10;&#10;AI-generated content may be incorrect.">
            <a:extLst>
              <a:ext uri="{FF2B5EF4-FFF2-40B4-BE49-F238E27FC236}">
                <a16:creationId xmlns:a16="http://schemas.microsoft.com/office/drawing/2014/main" id="{BB0A3CAF-B45E-0917-003E-CF98FFA3CB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0689"/>
          <a:stretch>
            <a:fillRect/>
          </a:stretch>
        </p:blipFill>
        <p:spPr>
          <a:xfrm>
            <a:off x="-2593074" y="0"/>
            <a:ext cx="9669642" cy="68579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682F650-B7CB-D682-D5E9-9A45EA659702}"/>
              </a:ext>
            </a:extLst>
          </p:cNvPr>
          <p:cNvSpPr txBox="1"/>
          <p:nvPr/>
        </p:nvSpPr>
        <p:spPr>
          <a:xfrm>
            <a:off x="7651185" y="612435"/>
            <a:ext cx="3822189" cy="37427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dirty="0"/>
              <a:t> -- SYNC PULSE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dirty="0"/>
              <a:t>    </a:t>
            </a:r>
            <a:r>
              <a:rPr lang="en-US" sz="1600" dirty="0" err="1"/>
              <a:t>h_output</a:t>
            </a:r>
            <a:r>
              <a:rPr lang="en-US" sz="1600" dirty="0"/>
              <a:t> &lt;= '0' when (</a:t>
            </a:r>
            <a:r>
              <a:rPr lang="en-US" sz="1600" dirty="0" err="1"/>
              <a:t>h_count</a:t>
            </a:r>
            <a:r>
              <a:rPr lang="en-US" sz="1600" dirty="0"/>
              <a:t> &gt;= (H_VISIBLE + H_FRONT)) and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dirty="0"/>
              <a:t>                        (</a:t>
            </a:r>
            <a:r>
              <a:rPr lang="en-US" sz="1600" dirty="0" err="1"/>
              <a:t>h_count</a:t>
            </a:r>
            <a:r>
              <a:rPr lang="en-US" sz="1600" dirty="0"/>
              <a:t> &lt; (H_VISIBLE + H_FRONT + H_SYNC)) else '1';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dirty="0"/>
              <a:t>    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dirty="0"/>
              <a:t>    </a:t>
            </a:r>
            <a:r>
              <a:rPr lang="en-US" sz="1600" dirty="0" err="1"/>
              <a:t>v_output</a:t>
            </a:r>
            <a:r>
              <a:rPr lang="en-US" sz="1600" dirty="0"/>
              <a:t> &lt;= '0' when (</a:t>
            </a:r>
            <a:r>
              <a:rPr lang="en-US" sz="1600" dirty="0" err="1"/>
              <a:t>v_count</a:t>
            </a:r>
            <a:r>
              <a:rPr lang="en-US" sz="1600" dirty="0"/>
              <a:t> &gt;= (V_VISIBLE + V_FRONT)) and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dirty="0"/>
              <a:t>                        (</a:t>
            </a:r>
            <a:r>
              <a:rPr lang="en-US" sz="1600" dirty="0" err="1"/>
              <a:t>v_count</a:t>
            </a:r>
            <a:r>
              <a:rPr lang="en-US" sz="1600" dirty="0"/>
              <a:t> &lt; (V_VISIBLE + V_FRONT + V_SYNC)) else '1';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6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dirty="0"/>
              <a:t>    -- Coordinates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dirty="0"/>
              <a:t>    </a:t>
            </a:r>
            <a:r>
              <a:rPr lang="en-US" sz="1600" dirty="0" err="1"/>
              <a:t>x_out</a:t>
            </a:r>
            <a:r>
              <a:rPr lang="en-US" sz="1600" dirty="0"/>
              <a:t> &lt;= </a:t>
            </a:r>
            <a:r>
              <a:rPr lang="en-US" sz="1600" dirty="0" err="1"/>
              <a:t>h_count</a:t>
            </a:r>
            <a:r>
              <a:rPr lang="en-US" sz="1600" dirty="0"/>
              <a:t>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dirty="0"/>
              <a:t>    </a:t>
            </a:r>
            <a:r>
              <a:rPr lang="en-US" sz="1600" dirty="0" err="1"/>
              <a:t>y_out</a:t>
            </a:r>
            <a:r>
              <a:rPr lang="en-US" sz="1600" dirty="0"/>
              <a:t> &lt;= </a:t>
            </a:r>
            <a:r>
              <a:rPr lang="en-US" sz="1600" dirty="0" err="1"/>
              <a:t>v_count</a:t>
            </a:r>
            <a:r>
              <a:rPr lang="en-US" sz="1600" dirty="0"/>
              <a:t>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6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dirty="0"/>
              <a:t>    -- VIDEO ON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dirty="0"/>
              <a:t>    </a:t>
            </a:r>
            <a:r>
              <a:rPr lang="en-US" sz="1600" dirty="0" err="1"/>
              <a:t>video_on</a:t>
            </a:r>
            <a:r>
              <a:rPr lang="en-US" sz="1600" dirty="0"/>
              <a:t> &lt;= '1' when (</a:t>
            </a:r>
            <a:r>
              <a:rPr lang="en-US" sz="1600" dirty="0" err="1"/>
              <a:t>h_count</a:t>
            </a:r>
            <a:r>
              <a:rPr lang="en-US" sz="1600" dirty="0"/>
              <a:t> &lt; H_VISIBLE) and (</a:t>
            </a:r>
            <a:r>
              <a:rPr lang="en-US" sz="1600" dirty="0" err="1"/>
              <a:t>v_count</a:t>
            </a:r>
            <a:r>
              <a:rPr lang="en-US" sz="1600" dirty="0"/>
              <a:t> &lt; V_VISIBLE) else '0';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dirty="0"/>
              <a:t>    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dirty="0"/>
              <a:t>end behavior;</a:t>
            </a:r>
          </a:p>
        </p:txBody>
      </p:sp>
    </p:spTree>
    <p:extLst>
      <p:ext uri="{BB962C8B-B14F-4D97-AF65-F5344CB8AC3E}">
        <p14:creationId xmlns:p14="http://schemas.microsoft.com/office/powerpoint/2010/main" val="2813106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4" name="Rectangle 63">
            <a:extLst>
              <a:ext uri="{FF2B5EF4-FFF2-40B4-BE49-F238E27FC236}">
                <a16:creationId xmlns:a16="http://schemas.microsoft.com/office/drawing/2014/main" id="{73AD41DB-DF9F-49BC-85AE-6AB1840A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diagram of a circuit board&#10;&#10;AI-generated content may be incorrect.">
            <a:extLst>
              <a:ext uri="{FF2B5EF4-FFF2-40B4-BE49-F238E27FC236}">
                <a16:creationId xmlns:a16="http://schemas.microsoft.com/office/drawing/2014/main" id="{1459C657-1BFC-A480-884A-0CCB78832F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92" r="4875" b="1"/>
          <a:stretch>
            <a:fillRect/>
          </a:stretch>
        </p:blipFill>
        <p:spPr>
          <a:xfrm>
            <a:off x="72724" y="81886"/>
            <a:ext cx="12046551" cy="3937379"/>
          </a:xfrm>
          <a:custGeom>
            <a:avLst/>
            <a:gdLst/>
            <a:ahLst/>
            <a:cxnLst/>
            <a:rect l="l" t="t" r="r" b="b"/>
            <a:pathLst>
              <a:path w="12192000" h="3984912">
                <a:moveTo>
                  <a:pt x="0" y="0"/>
                </a:moveTo>
                <a:lnTo>
                  <a:pt x="12192000" y="0"/>
                </a:lnTo>
                <a:lnTo>
                  <a:pt x="12192000" y="566059"/>
                </a:lnTo>
                <a:lnTo>
                  <a:pt x="12192000" y="794037"/>
                </a:lnTo>
                <a:lnTo>
                  <a:pt x="12192000" y="2336800"/>
                </a:lnTo>
                <a:lnTo>
                  <a:pt x="12192000" y="2631227"/>
                </a:lnTo>
                <a:lnTo>
                  <a:pt x="12192000" y="3908712"/>
                </a:lnTo>
                <a:lnTo>
                  <a:pt x="9439275" y="3984912"/>
                </a:lnTo>
                <a:lnTo>
                  <a:pt x="5572127" y="3737262"/>
                </a:lnTo>
                <a:lnTo>
                  <a:pt x="0" y="3908712"/>
                </a:lnTo>
                <a:lnTo>
                  <a:pt x="0" y="2631227"/>
                </a:lnTo>
                <a:lnTo>
                  <a:pt x="0" y="2336800"/>
                </a:lnTo>
                <a:lnTo>
                  <a:pt x="0" y="794037"/>
                </a:lnTo>
                <a:lnTo>
                  <a:pt x="0" y="566059"/>
                </a:lnTo>
                <a:close/>
              </a:path>
            </a:pathLst>
          </a:custGeom>
        </p:spPr>
      </p:pic>
      <p:grpSp>
        <p:nvGrpSpPr>
          <p:cNvPr id="65" name="Group 64">
            <a:extLst>
              <a:ext uri="{FF2B5EF4-FFF2-40B4-BE49-F238E27FC236}">
                <a16:creationId xmlns:a16="http://schemas.microsoft.com/office/drawing/2014/main" id="{A4AE1828-51FD-4AD7-BCF6-9AF5C696CE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528992"/>
            <a:ext cx="12192000" cy="757168"/>
            <a:chOff x="0" y="2959818"/>
            <a:chExt cx="12192000" cy="757168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542C7CD-02BE-4ADE-8D2F-DFB759D71A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81000" dist="1524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40A04EE-8E37-4C28-B09B-A9593A4AAB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blipFill>
              <a:blip r:embed="rId3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6D566516-3818-D657-1731-657D8B7648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4201" y="4669978"/>
            <a:ext cx="5692774" cy="11737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D" sz="2400">
                <a:solidFill>
                  <a:schemeClr val="bg1">
                    <a:alpha val="80000"/>
                  </a:schemeClr>
                </a:solidFill>
              </a:rPr>
              <a:t>https://youtu.be/_vS-kSauPwM</a:t>
            </a:r>
          </a:p>
        </p:txBody>
      </p:sp>
    </p:spTree>
    <p:extLst>
      <p:ext uri="{BB962C8B-B14F-4D97-AF65-F5344CB8AC3E}">
        <p14:creationId xmlns:p14="http://schemas.microsoft.com/office/powerpoint/2010/main" val="7318452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6F358-AA83-577D-575E-1A3713583A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081" y="0"/>
            <a:ext cx="10609997" cy="71666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D" sz="1400" dirty="0"/>
              <a:t>library </a:t>
            </a:r>
            <a:r>
              <a:rPr lang="en-ID" sz="1400" dirty="0" err="1"/>
              <a:t>ieee</a:t>
            </a:r>
            <a:r>
              <a:rPr lang="en-ID" sz="1400" dirty="0"/>
              <a:t>;</a:t>
            </a:r>
          </a:p>
          <a:p>
            <a:pPr marL="0" indent="0">
              <a:buNone/>
            </a:pPr>
            <a:r>
              <a:rPr lang="en-ID" sz="1400" dirty="0"/>
              <a:t>use ieee.std_logic_1164.all;</a:t>
            </a:r>
          </a:p>
          <a:p>
            <a:pPr marL="0" indent="0">
              <a:buNone/>
            </a:pPr>
            <a:r>
              <a:rPr lang="en-ID" sz="1400" dirty="0"/>
              <a:t>use </a:t>
            </a:r>
            <a:r>
              <a:rPr lang="en-ID" sz="1400" dirty="0" err="1"/>
              <a:t>ieee.numeric_std.all</a:t>
            </a:r>
            <a:r>
              <a:rPr lang="en-ID" sz="1400" dirty="0"/>
              <a:t>;</a:t>
            </a:r>
          </a:p>
          <a:p>
            <a:pPr marL="0" indent="0">
              <a:buNone/>
            </a:pPr>
            <a:r>
              <a:rPr lang="en-ID" sz="1400" dirty="0"/>
              <a:t>use </a:t>
            </a:r>
            <a:r>
              <a:rPr lang="en-ID" sz="1400" dirty="0" err="1"/>
              <a:t>std.textio.all</a:t>
            </a:r>
            <a:r>
              <a:rPr lang="en-ID" sz="1400" dirty="0"/>
              <a:t>; -- Required for file writing</a:t>
            </a:r>
          </a:p>
          <a:p>
            <a:pPr marL="0" indent="0">
              <a:buNone/>
            </a:pPr>
            <a:endParaRPr lang="en-ID" sz="1400" dirty="0"/>
          </a:p>
          <a:p>
            <a:pPr marL="0" indent="0">
              <a:buNone/>
            </a:pPr>
            <a:r>
              <a:rPr lang="en-ID" sz="1400" dirty="0"/>
              <a:t>entity </a:t>
            </a:r>
            <a:r>
              <a:rPr lang="en-ID" sz="1400" dirty="0" err="1"/>
              <a:t>tb_bad_apple</a:t>
            </a:r>
            <a:r>
              <a:rPr lang="en-ID" sz="1400" dirty="0"/>
              <a:t> is</a:t>
            </a:r>
          </a:p>
          <a:p>
            <a:pPr marL="0" indent="0">
              <a:buNone/>
            </a:pPr>
            <a:r>
              <a:rPr lang="en-ID" sz="1400" dirty="0"/>
              <a:t>end </a:t>
            </a:r>
            <a:r>
              <a:rPr lang="en-ID" sz="1400" dirty="0" err="1"/>
              <a:t>tb_bad_apple</a:t>
            </a:r>
            <a:r>
              <a:rPr lang="en-ID" sz="1400" dirty="0"/>
              <a:t>;</a:t>
            </a:r>
          </a:p>
          <a:p>
            <a:pPr marL="0" indent="0">
              <a:buNone/>
            </a:pPr>
            <a:endParaRPr lang="en-ID" sz="1400" dirty="0"/>
          </a:p>
          <a:p>
            <a:pPr marL="0" indent="0">
              <a:buNone/>
            </a:pPr>
            <a:r>
              <a:rPr lang="en-ID" sz="1400" dirty="0"/>
              <a:t>architecture </a:t>
            </a:r>
            <a:r>
              <a:rPr lang="en-ID" sz="1400" dirty="0" err="1"/>
              <a:t>behavior</a:t>
            </a:r>
            <a:r>
              <a:rPr lang="en-ID" sz="1400" dirty="0"/>
              <a:t> of </a:t>
            </a:r>
            <a:r>
              <a:rPr lang="en-ID" sz="1400" dirty="0" err="1"/>
              <a:t>tb_bad_apple</a:t>
            </a:r>
            <a:r>
              <a:rPr lang="en-ID" sz="1400" dirty="0"/>
              <a:t> is</a:t>
            </a:r>
          </a:p>
          <a:p>
            <a:pPr marL="0" indent="0">
              <a:buNone/>
            </a:pPr>
            <a:endParaRPr lang="en-ID" sz="1400" dirty="0"/>
          </a:p>
          <a:p>
            <a:pPr marL="0" indent="0">
              <a:buNone/>
            </a:pPr>
            <a:r>
              <a:rPr lang="en-ID" sz="1400" dirty="0"/>
              <a:t>    -- Component Declaration for the Unit Under Test (UUT)</a:t>
            </a:r>
          </a:p>
          <a:p>
            <a:pPr marL="0" indent="0">
              <a:buNone/>
            </a:pPr>
            <a:r>
              <a:rPr lang="en-ID" sz="1400" dirty="0"/>
              <a:t>    component </a:t>
            </a:r>
            <a:r>
              <a:rPr lang="en-ID" sz="1400" dirty="0" err="1"/>
              <a:t>logic_unit</a:t>
            </a:r>
            <a:endParaRPr lang="en-ID" sz="1400" dirty="0"/>
          </a:p>
          <a:p>
            <a:pPr marL="0" indent="0">
              <a:buNone/>
            </a:pPr>
            <a:r>
              <a:rPr lang="en-ID" sz="1400" dirty="0"/>
              <a:t>    port(</a:t>
            </a:r>
          </a:p>
          <a:p>
            <a:pPr marL="0" indent="0">
              <a:buNone/>
            </a:pPr>
            <a:r>
              <a:rPr lang="en-ID" sz="1400" dirty="0"/>
              <a:t>        clock : in </a:t>
            </a:r>
            <a:r>
              <a:rPr lang="en-ID" sz="1400" dirty="0" err="1"/>
              <a:t>std_logic</a:t>
            </a:r>
            <a:r>
              <a:rPr lang="en-ID" sz="1400" dirty="0"/>
              <a:t>;</a:t>
            </a:r>
          </a:p>
          <a:p>
            <a:pPr marL="0" indent="0">
              <a:buNone/>
            </a:pPr>
            <a:r>
              <a:rPr lang="en-ID" sz="1400" dirty="0"/>
              <a:t>        reset : in </a:t>
            </a:r>
            <a:r>
              <a:rPr lang="en-ID" sz="1400" dirty="0" err="1"/>
              <a:t>std_logic</a:t>
            </a:r>
            <a:r>
              <a:rPr lang="en-ID" sz="1400" dirty="0"/>
              <a:t>;</a:t>
            </a:r>
          </a:p>
          <a:p>
            <a:pPr marL="0" indent="0">
              <a:buNone/>
            </a:pPr>
            <a:r>
              <a:rPr lang="en-ID" sz="1400" dirty="0"/>
              <a:t>        </a:t>
            </a:r>
            <a:r>
              <a:rPr lang="en-ID" sz="1400" dirty="0" err="1"/>
              <a:t>vga_r</a:t>
            </a:r>
            <a:r>
              <a:rPr lang="en-ID" sz="1400" dirty="0"/>
              <a:t> : out </a:t>
            </a:r>
            <a:r>
              <a:rPr lang="en-ID" sz="1400" dirty="0" err="1"/>
              <a:t>std_logic_vector</a:t>
            </a:r>
            <a:r>
              <a:rPr lang="en-ID" sz="1400" dirty="0"/>
              <a:t>(3 </a:t>
            </a:r>
            <a:r>
              <a:rPr lang="en-ID" sz="1400" dirty="0" err="1"/>
              <a:t>downto</a:t>
            </a:r>
            <a:r>
              <a:rPr lang="en-ID" sz="1400" dirty="0"/>
              <a:t> 0);</a:t>
            </a:r>
          </a:p>
          <a:p>
            <a:pPr marL="0" indent="0">
              <a:buNone/>
            </a:pPr>
            <a:r>
              <a:rPr lang="en-ID" sz="1400" dirty="0"/>
              <a:t>        </a:t>
            </a:r>
            <a:r>
              <a:rPr lang="en-ID" sz="1400" dirty="0" err="1"/>
              <a:t>vga_g</a:t>
            </a:r>
            <a:r>
              <a:rPr lang="en-ID" sz="1400" dirty="0"/>
              <a:t> : out </a:t>
            </a:r>
            <a:r>
              <a:rPr lang="en-ID" sz="1400" dirty="0" err="1"/>
              <a:t>std_logic_vector</a:t>
            </a:r>
            <a:r>
              <a:rPr lang="en-ID" sz="1400" dirty="0"/>
              <a:t>(3 </a:t>
            </a:r>
            <a:r>
              <a:rPr lang="en-ID" sz="1400" dirty="0" err="1"/>
              <a:t>downto</a:t>
            </a:r>
            <a:r>
              <a:rPr lang="en-ID" sz="1400" dirty="0"/>
              <a:t> 0);</a:t>
            </a:r>
          </a:p>
          <a:p>
            <a:pPr marL="0" indent="0">
              <a:buNone/>
            </a:pPr>
            <a:r>
              <a:rPr lang="en-ID" sz="1400" dirty="0"/>
              <a:t>        </a:t>
            </a:r>
            <a:r>
              <a:rPr lang="en-ID" sz="1400" dirty="0" err="1"/>
              <a:t>vga_b</a:t>
            </a:r>
            <a:r>
              <a:rPr lang="en-ID" sz="1400" dirty="0"/>
              <a:t> : out </a:t>
            </a:r>
            <a:r>
              <a:rPr lang="en-ID" sz="1400" dirty="0" err="1"/>
              <a:t>std_logic_vector</a:t>
            </a:r>
            <a:r>
              <a:rPr lang="en-ID" sz="1400" dirty="0"/>
              <a:t>(3 </a:t>
            </a:r>
            <a:r>
              <a:rPr lang="en-ID" sz="1400" dirty="0" err="1"/>
              <a:t>downto</a:t>
            </a:r>
            <a:r>
              <a:rPr lang="en-ID" sz="1400" dirty="0"/>
              <a:t> 0);</a:t>
            </a:r>
          </a:p>
          <a:p>
            <a:pPr marL="0" indent="0">
              <a:buNone/>
            </a:pPr>
            <a:r>
              <a:rPr lang="en-ID" sz="1400" dirty="0"/>
              <a:t>        </a:t>
            </a:r>
            <a:r>
              <a:rPr lang="en-ID" sz="1400" dirty="0" err="1"/>
              <a:t>vga_hs</a:t>
            </a:r>
            <a:r>
              <a:rPr lang="en-ID" sz="1400" dirty="0"/>
              <a:t> : out </a:t>
            </a:r>
            <a:r>
              <a:rPr lang="en-ID" sz="1400" dirty="0" err="1"/>
              <a:t>std_logic</a:t>
            </a:r>
            <a:r>
              <a:rPr lang="en-ID" sz="1400" dirty="0"/>
              <a:t>;</a:t>
            </a:r>
          </a:p>
          <a:p>
            <a:pPr marL="0" indent="0">
              <a:buNone/>
            </a:pPr>
            <a:r>
              <a:rPr lang="en-ID" sz="1200" dirty="0"/>
              <a:t>        </a:t>
            </a:r>
            <a:r>
              <a:rPr lang="en-ID" sz="1200" dirty="0" err="1"/>
              <a:t>vga_vs</a:t>
            </a:r>
            <a:r>
              <a:rPr lang="en-ID" sz="1200" dirty="0"/>
              <a:t> : out </a:t>
            </a:r>
            <a:r>
              <a:rPr lang="en-ID" sz="1200" dirty="0" err="1"/>
              <a:t>std_logic</a:t>
            </a:r>
            <a:endParaRPr lang="en-ID" sz="1200" dirty="0"/>
          </a:p>
          <a:p>
            <a:pPr marL="0" indent="0">
              <a:buNone/>
            </a:pPr>
            <a:r>
              <a:rPr lang="en-ID" sz="1200" dirty="0"/>
              <a:t>    );</a:t>
            </a:r>
          </a:p>
          <a:p>
            <a:pPr marL="0" indent="0">
              <a:buNone/>
            </a:pPr>
            <a:r>
              <a:rPr lang="en-ID" sz="1200" dirty="0"/>
              <a:t>End component;</a:t>
            </a:r>
          </a:p>
          <a:p>
            <a:pPr marL="0" indent="0">
              <a:buNone/>
            </a:pPr>
            <a:r>
              <a:rPr lang="en-ID" sz="1400" dirty="0"/>
              <a:t>    end component;</a:t>
            </a:r>
          </a:p>
        </p:txBody>
      </p:sp>
      <p:sp>
        <p:nvSpPr>
          <p:cNvPr id="4" name="Rectangle: Folded Corner 3">
            <a:extLst>
              <a:ext uri="{FF2B5EF4-FFF2-40B4-BE49-F238E27FC236}">
                <a16:creationId xmlns:a16="http://schemas.microsoft.com/office/drawing/2014/main" id="{94C91276-6C09-64D9-8C0A-073ED94427BD}"/>
              </a:ext>
            </a:extLst>
          </p:cNvPr>
          <p:cNvSpPr/>
          <p:nvPr/>
        </p:nvSpPr>
        <p:spPr>
          <a:xfrm>
            <a:off x="10706668" y="0"/>
            <a:ext cx="1485331" cy="880281"/>
          </a:xfrm>
          <a:prstGeom prst="foldedCorne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Testbench</a:t>
            </a:r>
            <a:endParaRPr lang="en-ID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>
                <a:glow rad="63500">
                  <a:schemeClr val="accent2">
                    <a:satMod val="175000"/>
                    <a:alpha val="4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46861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440983-EC24-C0EA-BA13-4379A93F20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7881" y="300487"/>
            <a:ext cx="3875964" cy="33468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D" sz="2000" dirty="0"/>
              <a:t> </a:t>
            </a:r>
            <a:r>
              <a:rPr lang="en-ID" sz="1400" dirty="0"/>
              <a:t>-- Inputs</a:t>
            </a:r>
          </a:p>
          <a:p>
            <a:pPr marL="0" indent="0">
              <a:buNone/>
            </a:pPr>
            <a:r>
              <a:rPr lang="en-ID" sz="1400" dirty="0"/>
              <a:t>    signal clock : </a:t>
            </a:r>
            <a:r>
              <a:rPr lang="en-ID" sz="1400" dirty="0" err="1"/>
              <a:t>std_logic</a:t>
            </a:r>
            <a:r>
              <a:rPr lang="en-ID" sz="1400" dirty="0"/>
              <a:t> := '0';</a:t>
            </a:r>
          </a:p>
          <a:p>
            <a:pPr marL="0" indent="0">
              <a:buNone/>
            </a:pPr>
            <a:r>
              <a:rPr lang="en-ID" sz="1400" dirty="0"/>
              <a:t>    signal reset : </a:t>
            </a:r>
            <a:r>
              <a:rPr lang="en-ID" sz="1400" dirty="0" err="1"/>
              <a:t>std_logic</a:t>
            </a:r>
            <a:r>
              <a:rPr lang="en-ID" sz="1400" dirty="0"/>
              <a:t> := '0';</a:t>
            </a:r>
          </a:p>
          <a:p>
            <a:pPr marL="0" indent="0">
              <a:buNone/>
            </a:pPr>
            <a:endParaRPr lang="en-ID" sz="1400" dirty="0"/>
          </a:p>
          <a:p>
            <a:pPr marL="0" indent="0">
              <a:buNone/>
            </a:pPr>
            <a:r>
              <a:rPr lang="en-ID" sz="1400" dirty="0"/>
              <a:t>    -- Outputs</a:t>
            </a:r>
          </a:p>
          <a:p>
            <a:pPr marL="0" indent="0">
              <a:buNone/>
            </a:pPr>
            <a:r>
              <a:rPr lang="en-ID" sz="1400" dirty="0"/>
              <a:t>    signal </a:t>
            </a:r>
            <a:r>
              <a:rPr lang="en-ID" sz="1400" dirty="0" err="1"/>
              <a:t>vga_r</a:t>
            </a:r>
            <a:r>
              <a:rPr lang="en-ID" sz="1400" dirty="0"/>
              <a:t> : </a:t>
            </a:r>
            <a:r>
              <a:rPr lang="en-ID" sz="1400" dirty="0" err="1"/>
              <a:t>std_logic_vector</a:t>
            </a:r>
            <a:r>
              <a:rPr lang="en-ID" sz="1400" dirty="0"/>
              <a:t>(3 </a:t>
            </a:r>
            <a:r>
              <a:rPr lang="en-ID" sz="1400" dirty="0" err="1"/>
              <a:t>downto</a:t>
            </a:r>
            <a:r>
              <a:rPr lang="en-ID" sz="1400" dirty="0"/>
              <a:t> 0);</a:t>
            </a:r>
          </a:p>
          <a:p>
            <a:pPr marL="0" indent="0">
              <a:buNone/>
            </a:pPr>
            <a:r>
              <a:rPr lang="en-ID" sz="1400" dirty="0"/>
              <a:t>    signal </a:t>
            </a:r>
            <a:r>
              <a:rPr lang="en-ID" sz="1400" dirty="0" err="1"/>
              <a:t>vga_g</a:t>
            </a:r>
            <a:r>
              <a:rPr lang="en-ID" sz="1400" dirty="0"/>
              <a:t> : </a:t>
            </a:r>
            <a:r>
              <a:rPr lang="en-ID" sz="1400" dirty="0" err="1"/>
              <a:t>std_logic_vector</a:t>
            </a:r>
            <a:r>
              <a:rPr lang="en-ID" sz="1400" dirty="0"/>
              <a:t>(3 </a:t>
            </a:r>
            <a:r>
              <a:rPr lang="en-ID" sz="1400" dirty="0" err="1"/>
              <a:t>downto</a:t>
            </a:r>
            <a:r>
              <a:rPr lang="en-ID" sz="1400" dirty="0"/>
              <a:t> 0);</a:t>
            </a:r>
          </a:p>
          <a:p>
            <a:pPr marL="0" indent="0">
              <a:buNone/>
            </a:pPr>
            <a:r>
              <a:rPr lang="en-ID" sz="1400" dirty="0"/>
              <a:t>    signal </a:t>
            </a:r>
            <a:r>
              <a:rPr lang="en-ID" sz="1400" dirty="0" err="1"/>
              <a:t>vga_b</a:t>
            </a:r>
            <a:r>
              <a:rPr lang="en-ID" sz="1400" dirty="0"/>
              <a:t> : </a:t>
            </a:r>
            <a:r>
              <a:rPr lang="en-ID" sz="1400" dirty="0" err="1"/>
              <a:t>std_logic_vector</a:t>
            </a:r>
            <a:r>
              <a:rPr lang="en-ID" sz="1400" dirty="0"/>
              <a:t>(3 </a:t>
            </a:r>
            <a:r>
              <a:rPr lang="en-ID" sz="1400" dirty="0" err="1"/>
              <a:t>downto</a:t>
            </a:r>
            <a:r>
              <a:rPr lang="en-ID" sz="1400" dirty="0"/>
              <a:t> 0);</a:t>
            </a:r>
          </a:p>
          <a:p>
            <a:pPr marL="0" indent="0">
              <a:buNone/>
            </a:pPr>
            <a:r>
              <a:rPr lang="en-ID" sz="1400" dirty="0"/>
              <a:t>    signal </a:t>
            </a:r>
            <a:r>
              <a:rPr lang="en-ID" sz="1400" dirty="0" err="1"/>
              <a:t>vga_hs</a:t>
            </a:r>
            <a:r>
              <a:rPr lang="en-ID" sz="1400" dirty="0"/>
              <a:t> : </a:t>
            </a:r>
            <a:r>
              <a:rPr lang="en-ID" sz="1400" dirty="0" err="1"/>
              <a:t>std_logic</a:t>
            </a:r>
            <a:r>
              <a:rPr lang="en-ID" sz="1400" dirty="0"/>
              <a:t>;</a:t>
            </a:r>
          </a:p>
          <a:p>
            <a:pPr marL="0" indent="0">
              <a:buNone/>
            </a:pPr>
            <a:r>
              <a:rPr lang="en-ID" sz="1400" dirty="0"/>
              <a:t>    signal </a:t>
            </a:r>
            <a:r>
              <a:rPr lang="en-ID" sz="1400" dirty="0" err="1"/>
              <a:t>vga_vs</a:t>
            </a:r>
            <a:r>
              <a:rPr lang="en-ID" sz="1400" dirty="0"/>
              <a:t> : </a:t>
            </a:r>
            <a:r>
              <a:rPr lang="en-ID" sz="1400" dirty="0" err="1"/>
              <a:t>std_logic</a:t>
            </a:r>
            <a:r>
              <a:rPr lang="en-ID" sz="1400" dirty="0"/>
              <a:t>;</a:t>
            </a:r>
          </a:p>
          <a:p>
            <a:pPr marL="0" indent="0">
              <a:buNone/>
            </a:pPr>
            <a:endParaRPr lang="en-ID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0D8BB5-886D-3240-E73D-0EDAC5379E8A}"/>
              </a:ext>
            </a:extLst>
          </p:cNvPr>
          <p:cNvSpPr txBox="1"/>
          <p:nvPr/>
        </p:nvSpPr>
        <p:spPr>
          <a:xfrm>
            <a:off x="6748819" y="2040341"/>
            <a:ext cx="459929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400" dirty="0"/>
              <a:t>-- Clock period definitions (50 MHz System Clock)</a:t>
            </a:r>
          </a:p>
          <a:p>
            <a:r>
              <a:rPr lang="en-ID" sz="1400" dirty="0"/>
              <a:t>    constant </a:t>
            </a:r>
            <a:r>
              <a:rPr lang="en-ID" sz="1400" dirty="0" err="1"/>
              <a:t>clock_period</a:t>
            </a:r>
            <a:r>
              <a:rPr lang="en-ID" sz="1400" dirty="0"/>
              <a:t> : time := 20 ns;</a:t>
            </a:r>
          </a:p>
          <a:p>
            <a:r>
              <a:rPr lang="en-ID" sz="1400" dirty="0"/>
              <a:t>    </a:t>
            </a:r>
          </a:p>
          <a:p>
            <a:r>
              <a:rPr lang="en-ID" sz="1400" dirty="0"/>
              <a:t>    -- Pixel Clock (Derived from logic, but we know it is 25 MHz = 40 ns)</a:t>
            </a:r>
          </a:p>
          <a:p>
            <a:r>
              <a:rPr lang="en-ID" sz="1400" dirty="0"/>
              <a:t>    constant </a:t>
            </a:r>
            <a:r>
              <a:rPr lang="en-ID" sz="1400" dirty="0" err="1"/>
              <a:t>pixel_time</a:t>
            </a:r>
            <a:r>
              <a:rPr lang="en-ID" sz="1400" dirty="0"/>
              <a:t> : time := 40 ns; </a:t>
            </a:r>
          </a:p>
          <a:p>
            <a:endParaRPr lang="en-ID" sz="1400" dirty="0"/>
          </a:p>
          <a:p>
            <a:r>
              <a:rPr lang="en-ID" sz="1400" dirty="0"/>
              <a:t>    -- Timing Constants (MUST MATCH YOUR VGA.VHD)</a:t>
            </a:r>
          </a:p>
          <a:p>
            <a:r>
              <a:rPr lang="en-ID" sz="1400" dirty="0"/>
              <a:t>    constant H_BACK : integer := 48;</a:t>
            </a:r>
          </a:p>
          <a:p>
            <a:r>
              <a:rPr lang="en-ID" sz="1400" dirty="0"/>
              <a:t>    constant V_BACK : integer := 33;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EFB905-590E-7D49-0DE7-9E9D5514FC60}"/>
              </a:ext>
            </a:extLst>
          </p:cNvPr>
          <p:cNvSpPr txBox="1"/>
          <p:nvPr/>
        </p:nvSpPr>
        <p:spPr>
          <a:xfrm>
            <a:off x="1013347" y="4104328"/>
            <a:ext cx="589242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400" dirty="0"/>
              <a:t>begin</a:t>
            </a:r>
          </a:p>
          <a:p>
            <a:endParaRPr lang="en-ID" sz="1400" dirty="0"/>
          </a:p>
          <a:p>
            <a:r>
              <a:rPr lang="en-ID" sz="1400" dirty="0"/>
              <a:t>    -- Instantiate the Unit Under Test (UUT)</a:t>
            </a:r>
          </a:p>
          <a:p>
            <a:r>
              <a:rPr lang="en-ID" sz="1400" dirty="0"/>
              <a:t>    </a:t>
            </a:r>
            <a:r>
              <a:rPr lang="en-ID" sz="1400" dirty="0" err="1"/>
              <a:t>uut</a:t>
            </a:r>
            <a:r>
              <a:rPr lang="en-ID" sz="1400" dirty="0"/>
              <a:t>: </a:t>
            </a:r>
            <a:r>
              <a:rPr lang="en-ID" sz="1400" dirty="0" err="1"/>
              <a:t>logic_unit</a:t>
            </a:r>
            <a:r>
              <a:rPr lang="en-ID" sz="1400" dirty="0"/>
              <a:t> PORT MAP (</a:t>
            </a:r>
          </a:p>
          <a:p>
            <a:r>
              <a:rPr lang="en-ID" sz="1400" dirty="0"/>
              <a:t>        clock =&gt; clock,</a:t>
            </a:r>
          </a:p>
          <a:p>
            <a:r>
              <a:rPr lang="en-ID" sz="1400" dirty="0"/>
              <a:t>        reset =&gt; reset,</a:t>
            </a:r>
          </a:p>
          <a:p>
            <a:r>
              <a:rPr lang="en-ID" sz="1400" dirty="0"/>
              <a:t>        </a:t>
            </a:r>
            <a:r>
              <a:rPr lang="en-ID" sz="1400" dirty="0" err="1"/>
              <a:t>vga_r</a:t>
            </a:r>
            <a:r>
              <a:rPr lang="en-ID" sz="1400" dirty="0"/>
              <a:t> =&gt; </a:t>
            </a:r>
            <a:r>
              <a:rPr lang="en-ID" sz="1400" dirty="0" err="1"/>
              <a:t>vga_r</a:t>
            </a:r>
            <a:r>
              <a:rPr lang="en-ID" sz="1400" dirty="0"/>
              <a:t>,</a:t>
            </a:r>
          </a:p>
          <a:p>
            <a:r>
              <a:rPr lang="en-ID" sz="1400" dirty="0"/>
              <a:t>        </a:t>
            </a:r>
            <a:r>
              <a:rPr lang="en-ID" sz="1400" dirty="0" err="1"/>
              <a:t>vga_g</a:t>
            </a:r>
            <a:r>
              <a:rPr lang="en-ID" sz="1400" dirty="0"/>
              <a:t> =&gt; </a:t>
            </a:r>
            <a:r>
              <a:rPr lang="en-ID" sz="1400" dirty="0" err="1"/>
              <a:t>vga_g</a:t>
            </a:r>
            <a:r>
              <a:rPr lang="en-ID" sz="1400" dirty="0"/>
              <a:t>,</a:t>
            </a:r>
          </a:p>
          <a:p>
            <a:r>
              <a:rPr lang="en-ID" sz="1400" dirty="0"/>
              <a:t>        </a:t>
            </a:r>
            <a:r>
              <a:rPr lang="en-ID" sz="1400" dirty="0" err="1"/>
              <a:t>vga_b</a:t>
            </a:r>
            <a:r>
              <a:rPr lang="en-ID" sz="1400" dirty="0"/>
              <a:t> =&gt; </a:t>
            </a:r>
            <a:r>
              <a:rPr lang="en-ID" sz="1400" dirty="0" err="1"/>
              <a:t>vga_b</a:t>
            </a:r>
            <a:r>
              <a:rPr lang="en-ID" sz="1400" dirty="0"/>
              <a:t>,</a:t>
            </a:r>
          </a:p>
          <a:p>
            <a:r>
              <a:rPr lang="en-ID" sz="1400" dirty="0"/>
              <a:t>        </a:t>
            </a:r>
            <a:r>
              <a:rPr lang="en-ID" sz="1400" dirty="0" err="1"/>
              <a:t>vga_hs</a:t>
            </a:r>
            <a:r>
              <a:rPr lang="en-ID" sz="1400" dirty="0"/>
              <a:t> =&gt; </a:t>
            </a:r>
            <a:r>
              <a:rPr lang="en-ID" sz="1400" dirty="0" err="1"/>
              <a:t>vga_hs</a:t>
            </a:r>
            <a:r>
              <a:rPr lang="en-ID" sz="1400" dirty="0"/>
              <a:t>,</a:t>
            </a:r>
          </a:p>
          <a:p>
            <a:r>
              <a:rPr lang="en-ID" sz="1400" dirty="0"/>
              <a:t>        </a:t>
            </a:r>
            <a:r>
              <a:rPr lang="en-ID" sz="1400" dirty="0" err="1"/>
              <a:t>vga_vs</a:t>
            </a:r>
            <a:r>
              <a:rPr lang="en-ID" sz="1400" dirty="0"/>
              <a:t> =&gt; </a:t>
            </a:r>
            <a:r>
              <a:rPr lang="en-ID" sz="1400" dirty="0" err="1"/>
              <a:t>vga_vs</a:t>
            </a:r>
            <a:endParaRPr lang="en-ID" sz="1400" dirty="0"/>
          </a:p>
          <a:p>
            <a:r>
              <a:rPr lang="en-ID" sz="1400" dirty="0"/>
              <a:t>    );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356FEE4-FE09-0E9E-890A-7F24E43C4554}"/>
              </a:ext>
            </a:extLst>
          </p:cNvPr>
          <p:cNvCxnSpPr/>
          <p:nvPr/>
        </p:nvCxnSpPr>
        <p:spPr>
          <a:xfrm>
            <a:off x="5254388" y="2579427"/>
            <a:ext cx="1228299" cy="477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4C07EA8-E373-FAB1-1CCA-7334B5E5EDE9}"/>
              </a:ext>
            </a:extLst>
          </p:cNvPr>
          <p:cNvCxnSpPr/>
          <p:nvPr/>
        </p:nvCxnSpPr>
        <p:spPr>
          <a:xfrm flipH="1">
            <a:off x="5534167" y="4104328"/>
            <a:ext cx="1214652" cy="5154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7833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B11A232-01DC-C8D9-0BE0-280407A09ADF}"/>
              </a:ext>
            </a:extLst>
          </p:cNvPr>
          <p:cNvSpPr txBox="1"/>
          <p:nvPr/>
        </p:nvSpPr>
        <p:spPr>
          <a:xfrm>
            <a:off x="477672" y="313899"/>
            <a:ext cx="290697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-- Clock process definitions</a:t>
            </a:r>
          </a:p>
          <a:p>
            <a:r>
              <a:rPr lang="en-US" sz="1400" dirty="0"/>
              <a:t>    </a:t>
            </a:r>
            <a:r>
              <a:rPr lang="en-US" sz="1400" dirty="0" err="1"/>
              <a:t>clock_process</a:t>
            </a:r>
            <a:r>
              <a:rPr lang="en-US" sz="1400" dirty="0"/>
              <a:t> :process</a:t>
            </a:r>
          </a:p>
          <a:p>
            <a:r>
              <a:rPr lang="en-US" sz="1400" dirty="0"/>
              <a:t>    begin</a:t>
            </a:r>
          </a:p>
          <a:p>
            <a:r>
              <a:rPr lang="en-US" sz="1400" dirty="0"/>
              <a:t>        clock &lt;= '0';</a:t>
            </a:r>
          </a:p>
          <a:p>
            <a:r>
              <a:rPr lang="en-US" sz="1400" dirty="0"/>
              <a:t>        wait for </a:t>
            </a:r>
            <a:r>
              <a:rPr lang="en-US" sz="1400" dirty="0" err="1"/>
              <a:t>clock_period</a:t>
            </a:r>
            <a:r>
              <a:rPr lang="en-US" sz="1400" dirty="0"/>
              <a:t>/2;</a:t>
            </a:r>
          </a:p>
          <a:p>
            <a:r>
              <a:rPr lang="en-US" sz="1400" dirty="0"/>
              <a:t>        clock &lt;= '1';</a:t>
            </a:r>
          </a:p>
          <a:p>
            <a:r>
              <a:rPr lang="en-US" sz="1400" dirty="0"/>
              <a:t>        wait for </a:t>
            </a:r>
            <a:r>
              <a:rPr lang="en-US" sz="1400" dirty="0" err="1"/>
              <a:t>clock_period</a:t>
            </a:r>
            <a:r>
              <a:rPr lang="en-US" sz="1400" dirty="0"/>
              <a:t>/2;</a:t>
            </a:r>
          </a:p>
          <a:p>
            <a:r>
              <a:rPr lang="en-US" sz="1400" dirty="0"/>
              <a:t>    end process;</a:t>
            </a:r>
          </a:p>
          <a:p>
            <a:endParaRPr lang="en-ID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DBB580-5E4E-0AA1-9FDE-CA3586A79BC5}"/>
              </a:ext>
            </a:extLst>
          </p:cNvPr>
          <p:cNvSpPr txBox="1"/>
          <p:nvPr/>
        </p:nvSpPr>
        <p:spPr>
          <a:xfrm>
            <a:off x="5936776" y="1329561"/>
            <a:ext cx="6196084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400" dirty="0"/>
              <a:t> -- Stimulus and Image Capture Process</a:t>
            </a:r>
          </a:p>
          <a:p>
            <a:r>
              <a:rPr lang="en-ID" sz="1400" dirty="0"/>
              <a:t>    </a:t>
            </a:r>
            <a:r>
              <a:rPr lang="en-ID" sz="1400" dirty="0" err="1"/>
              <a:t>stim_proc</a:t>
            </a:r>
            <a:r>
              <a:rPr lang="en-ID" sz="1400" dirty="0"/>
              <a:t>: process</a:t>
            </a:r>
          </a:p>
          <a:p>
            <a:r>
              <a:rPr lang="en-ID" sz="1400" dirty="0"/>
              <a:t>        file </a:t>
            </a:r>
            <a:r>
              <a:rPr lang="en-ID" sz="1400" dirty="0" err="1"/>
              <a:t>file_pointer</a:t>
            </a:r>
            <a:r>
              <a:rPr lang="en-ID" sz="1400" dirty="0"/>
              <a:t> : text;</a:t>
            </a:r>
          </a:p>
          <a:p>
            <a:r>
              <a:rPr lang="en-ID" sz="1400" dirty="0"/>
              <a:t>        variable </a:t>
            </a:r>
            <a:r>
              <a:rPr lang="en-ID" sz="1400" dirty="0" err="1"/>
              <a:t>line_el</a:t>
            </a:r>
            <a:r>
              <a:rPr lang="en-ID" sz="1400" dirty="0"/>
              <a:t> : line;</a:t>
            </a:r>
          </a:p>
          <a:p>
            <a:r>
              <a:rPr lang="en-ID" sz="1400" dirty="0"/>
              <a:t>        variable </a:t>
            </a:r>
            <a:r>
              <a:rPr lang="en-ID" sz="1400" dirty="0" err="1"/>
              <a:t>i</a:t>
            </a:r>
            <a:r>
              <a:rPr lang="en-ID" sz="1400" dirty="0"/>
              <a:t>, j : integer := 0;</a:t>
            </a:r>
          </a:p>
          <a:p>
            <a:r>
              <a:rPr lang="en-ID" sz="1400" dirty="0"/>
              <a:t>        variable </a:t>
            </a:r>
            <a:r>
              <a:rPr lang="en-ID" sz="1400" dirty="0" err="1"/>
              <a:t>r_int</a:t>
            </a:r>
            <a:r>
              <a:rPr lang="en-ID" sz="1400" dirty="0"/>
              <a:t>, </a:t>
            </a:r>
            <a:r>
              <a:rPr lang="en-ID" sz="1400" dirty="0" err="1"/>
              <a:t>g_int</a:t>
            </a:r>
            <a:r>
              <a:rPr lang="en-ID" sz="1400" dirty="0"/>
              <a:t>, </a:t>
            </a:r>
            <a:r>
              <a:rPr lang="en-ID" sz="1400" dirty="0" err="1"/>
              <a:t>b_int</a:t>
            </a:r>
            <a:r>
              <a:rPr lang="en-ID" sz="1400" dirty="0"/>
              <a:t> : integer;</a:t>
            </a:r>
          </a:p>
          <a:p>
            <a:r>
              <a:rPr lang="en-ID" sz="1400" dirty="0"/>
              <a:t>    begin       </a:t>
            </a:r>
          </a:p>
          <a:p>
            <a:r>
              <a:rPr lang="en-ID" sz="1400" dirty="0"/>
              <a:t>        -- 1. Hold Reset for 100 ns</a:t>
            </a:r>
          </a:p>
          <a:p>
            <a:r>
              <a:rPr lang="en-ID" sz="1400" dirty="0"/>
              <a:t>        reset &lt;= '0'; </a:t>
            </a:r>
          </a:p>
          <a:p>
            <a:r>
              <a:rPr lang="en-ID" sz="1400" dirty="0"/>
              <a:t>        wait for 100 ns;    </a:t>
            </a:r>
          </a:p>
          <a:p>
            <a:r>
              <a:rPr lang="en-ID" sz="1400" dirty="0"/>
              <a:t>        reset &lt;= '1'; </a:t>
            </a:r>
          </a:p>
          <a:p>
            <a:r>
              <a:rPr lang="en-ID" sz="1400" dirty="0"/>
              <a:t>        wait for 100 ns;</a:t>
            </a:r>
          </a:p>
          <a:p>
            <a:endParaRPr lang="en-ID" sz="1400" dirty="0"/>
          </a:p>
          <a:p>
            <a:r>
              <a:rPr lang="en-ID" sz="1400" dirty="0"/>
              <a:t>        report "Rendering 200 Frames...";</a:t>
            </a:r>
          </a:p>
          <a:p>
            <a:r>
              <a:rPr lang="en-ID" sz="1400" dirty="0"/>
              <a:t>        for k in 1 to 200 loop</a:t>
            </a:r>
          </a:p>
          <a:p>
            <a:r>
              <a:rPr lang="en-ID" sz="1400" dirty="0"/>
              <a:t>            -- Wait for the frame to finish (Rising Edge of VSYNC)</a:t>
            </a:r>
          </a:p>
          <a:p>
            <a:r>
              <a:rPr lang="en-ID" sz="1400" dirty="0"/>
              <a:t>            wait until </a:t>
            </a:r>
            <a:r>
              <a:rPr lang="en-ID" sz="1400" dirty="0" err="1"/>
              <a:t>rising_edge</a:t>
            </a:r>
            <a:r>
              <a:rPr lang="en-ID" sz="1400" dirty="0"/>
              <a:t>(</a:t>
            </a:r>
            <a:r>
              <a:rPr lang="en-ID" sz="1400" dirty="0" err="1"/>
              <a:t>vga_vs</a:t>
            </a:r>
            <a:r>
              <a:rPr lang="en-ID" sz="1400" dirty="0"/>
              <a:t>);</a:t>
            </a:r>
          </a:p>
          <a:p>
            <a:r>
              <a:rPr lang="en-ID" sz="1400" dirty="0"/>
              <a:t>            report "Finished Frame: " &amp; </a:t>
            </a:r>
            <a:r>
              <a:rPr lang="en-ID" sz="1400" dirty="0" err="1"/>
              <a:t>integer'image</a:t>
            </a:r>
            <a:r>
              <a:rPr lang="en-ID" sz="1400" dirty="0"/>
              <a:t>(k);</a:t>
            </a:r>
          </a:p>
          <a:p>
            <a:r>
              <a:rPr lang="en-ID" sz="1400" dirty="0"/>
              <a:t>        </a:t>
            </a:r>
          </a:p>
          <a:p>
            <a:r>
              <a:rPr lang="en-ID" sz="1400" dirty="0"/>
              <a:t>            -- Now we are at the start of Frame 91. </a:t>
            </a:r>
          </a:p>
          <a:p>
            <a:r>
              <a:rPr lang="en-ID" sz="1400" dirty="0"/>
              <a:t>            -- The signals will now contain white data.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37E439F-D5D2-BFC1-14A5-BF8AF8BDC713}"/>
              </a:ext>
            </a:extLst>
          </p:cNvPr>
          <p:cNvCxnSpPr/>
          <p:nvPr/>
        </p:nvCxnSpPr>
        <p:spPr>
          <a:xfrm>
            <a:off x="4183039" y="1665027"/>
            <a:ext cx="1446662" cy="4844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63A2651-C2CF-17C4-E1F0-7430DD3D7BCF}"/>
              </a:ext>
            </a:extLst>
          </p:cNvPr>
          <p:cNvCxnSpPr/>
          <p:nvPr/>
        </p:nvCxnSpPr>
        <p:spPr>
          <a:xfrm flipH="1">
            <a:off x="4763069" y="3241343"/>
            <a:ext cx="1091821" cy="4503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B1AC7B4-3208-553A-8E92-29CE6E7289A7}"/>
              </a:ext>
            </a:extLst>
          </p:cNvPr>
          <p:cNvSpPr txBox="1"/>
          <p:nvPr/>
        </p:nvSpPr>
        <p:spPr>
          <a:xfrm>
            <a:off x="184245" y="2756848"/>
            <a:ext cx="4319516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-- 2. Open the output file</a:t>
            </a:r>
          </a:p>
          <a:p>
            <a:r>
              <a:rPr lang="en-US" sz="1400" dirty="0"/>
              <a:t>            </a:t>
            </a:r>
            <a:r>
              <a:rPr lang="en-US" sz="1400" dirty="0" err="1"/>
              <a:t>file_open</a:t>
            </a:r>
            <a:r>
              <a:rPr lang="en-US" sz="1400" dirty="0"/>
              <a:t>(</a:t>
            </a:r>
            <a:r>
              <a:rPr lang="en-US" sz="1400" dirty="0" err="1"/>
              <a:t>file_pointer</a:t>
            </a:r>
            <a:r>
              <a:rPr lang="en-US" sz="1400" dirty="0"/>
              <a:t>, "frame_" &amp; </a:t>
            </a:r>
            <a:r>
              <a:rPr lang="en-US" sz="1400" dirty="0" err="1"/>
              <a:t>integer'image</a:t>
            </a:r>
            <a:r>
              <a:rPr lang="en-US" sz="1400" dirty="0"/>
              <a:t>(k) &amp; ".ppm", </a:t>
            </a:r>
            <a:r>
              <a:rPr lang="en-US" sz="1400" dirty="0" err="1"/>
              <a:t>write_mode</a:t>
            </a:r>
            <a:r>
              <a:rPr lang="en-US" sz="1400" dirty="0"/>
              <a:t>);</a:t>
            </a:r>
          </a:p>
          <a:p>
            <a:endParaRPr lang="en-US" sz="1400" dirty="0"/>
          </a:p>
          <a:p>
            <a:r>
              <a:rPr lang="en-US" sz="1400" dirty="0"/>
              <a:t>            -- 3. Write PPM Header</a:t>
            </a:r>
          </a:p>
          <a:p>
            <a:r>
              <a:rPr lang="en-US" sz="1400" dirty="0"/>
              <a:t>            write(</a:t>
            </a:r>
            <a:r>
              <a:rPr lang="en-US" sz="1400" dirty="0" err="1"/>
              <a:t>line_el</a:t>
            </a:r>
            <a:r>
              <a:rPr lang="en-US" sz="1400" dirty="0"/>
              <a:t>, string'("P3"));</a:t>
            </a:r>
          </a:p>
          <a:p>
            <a:r>
              <a:rPr lang="en-US" sz="1400" dirty="0"/>
              <a:t>            </a:t>
            </a:r>
            <a:r>
              <a:rPr lang="en-US" sz="1400" dirty="0" err="1"/>
              <a:t>writeline</a:t>
            </a:r>
            <a:r>
              <a:rPr lang="en-US" sz="1400" dirty="0"/>
              <a:t>(</a:t>
            </a:r>
            <a:r>
              <a:rPr lang="en-US" sz="1400" dirty="0" err="1"/>
              <a:t>file_pointer</a:t>
            </a:r>
            <a:r>
              <a:rPr lang="en-US" sz="1400" dirty="0"/>
              <a:t>, </a:t>
            </a:r>
            <a:r>
              <a:rPr lang="en-US" sz="1400" dirty="0" err="1"/>
              <a:t>line_el</a:t>
            </a:r>
            <a:r>
              <a:rPr lang="en-US" sz="1400" dirty="0"/>
              <a:t>);</a:t>
            </a:r>
          </a:p>
          <a:p>
            <a:r>
              <a:rPr lang="en-US" sz="1400" dirty="0"/>
              <a:t>            write(</a:t>
            </a:r>
            <a:r>
              <a:rPr lang="en-US" sz="1400" dirty="0" err="1"/>
              <a:t>line_el</a:t>
            </a:r>
            <a:r>
              <a:rPr lang="en-US" sz="1400" dirty="0"/>
              <a:t>, string'("640 480")); </a:t>
            </a:r>
          </a:p>
          <a:p>
            <a:r>
              <a:rPr lang="en-US" sz="1400" dirty="0"/>
              <a:t>            </a:t>
            </a:r>
            <a:r>
              <a:rPr lang="en-US" sz="1400" dirty="0" err="1"/>
              <a:t>writeline</a:t>
            </a:r>
            <a:r>
              <a:rPr lang="en-US" sz="1400" dirty="0"/>
              <a:t>(</a:t>
            </a:r>
            <a:r>
              <a:rPr lang="en-US" sz="1400" dirty="0" err="1"/>
              <a:t>file_pointer</a:t>
            </a:r>
            <a:r>
              <a:rPr lang="en-US" sz="1400" dirty="0"/>
              <a:t>, </a:t>
            </a:r>
            <a:r>
              <a:rPr lang="en-US" sz="1400" dirty="0" err="1"/>
              <a:t>line_el</a:t>
            </a:r>
            <a:r>
              <a:rPr lang="en-US" sz="1400" dirty="0"/>
              <a:t>);</a:t>
            </a:r>
          </a:p>
          <a:p>
            <a:r>
              <a:rPr lang="en-US" sz="1400" dirty="0"/>
              <a:t>            write(</a:t>
            </a:r>
            <a:r>
              <a:rPr lang="en-US" sz="1400" dirty="0" err="1"/>
              <a:t>line_el</a:t>
            </a:r>
            <a:r>
              <a:rPr lang="en-US" sz="1400" dirty="0"/>
              <a:t>, string'("15")); </a:t>
            </a:r>
          </a:p>
          <a:p>
            <a:r>
              <a:rPr lang="en-US" sz="1400" dirty="0"/>
              <a:t>            </a:t>
            </a:r>
            <a:r>
              <a:rPr lang="en-US" sz="1400" dirty="0" err="1"/>
              <a:t>writeline</a:t>
            </a:r>
            <a:r>
              <a:rPr lang="en-US" sz="1400" dirty="0"/>
              <a:t>(</a:t>
            </a:r>
            <a:r>
              <a:rPr lang="en-US" sz="1400" dirty="0" err="1"/>
              <a:t>file_pointer</a:t>
            </a:r>
            <a:r>
              <a:rPr lang="en-US" sz="1400" dirty="0"/>
              <a:t>, </a:t>
            </a:r>
            <a:r>
              <a:rPr lang="en-US" sz="1400" dirty="0" err="1"/>
              <a:t>line_el</a:t>
            </a:r>
            <a:r>
              <a:rPr lang="en-US" sz="1400" dirty="0"/>
              <a:t>);</a:t>
            </a:r>
          </a:p>
          <a:p>
            <a:endParaRPr lang="en-US" sz="1400" dirty="0"/>
          </a:p>
          <a:p>
            <a:r>
              <a:rPr lang="en-US" sz="1400" dirty="0"/>
              <a:t>            -- 4. Sync to the START of the current frame</a:t>
            </a:r>
          </a:p>
          <a:p>
            <a:r>
              <a:rPr lang="en-US" sz="1400" dirty="0"/>
              <a:t>            -- Since the loop above ended on a </a:t>
            </a:r>
            <a:r>
              <a:rPr lang="en-US" sz="1400" dirty="0" err="1"/>
              <a:t>rising_edge</a:t>
            </a:r>
            <a:r>
              <a:rPr lang="en-US" sz="1400" dirty="0"/>
              <a:t> (VSYNC End),</a:t>
            </a:r>
          </a:p>
          <a:p>
            <a:r>
              <a:rPr lang="en-US" sz="1400" dirty="0"/>
              <a:t>            -- we are already perfectly positioned at the start of the Back Porch.</a:t>
            </a:r>
          </a:p>
          <a:p>
            <a:r>
              <a:rPr lang="en-US" sz="1400" dirty="0"/>
              <a:t>            -- We can proceed directly to line skipping.</a:t>
            </a:r>
          </a:p>
          <a:p>
            <a:endParaRPr lang="en-ID" sz="1400" dirty="0"/>
          </a:p>
        </p:txBody>
      </p:sp>
    </p:spTree>
    <p:extLst>
      <p:ext uri="{BB962C8B-B14F-4D97-AF65-F5344CB8AC3E}">
        <p14:creationId xmlns:p14="http://schemas.microsoft.com/office/powerpoint/2010/main" val="1999134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32CE278-B79F-D0D5-C171-A9FC6CE6311F}"/>
              </a:ext>
            </a:extLst>
          </p:cNvPr>
          <p:cNvSpPr txBox="1"/>
          <p:nvPr/>
        </p:nvSpPr>
        <p:spPr>
          <a:xfrm>
            <a:off x="491319" y="402609"/>
            <a:ext cx="10822675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200" dirty="0"/>
              <a:t> -- 5. Skip the Vertical Back Porch lines</a:t>
            </a:r>
          </a:p>
          <a:p>
            <a:r>
              <a:rPr lang="en-ID" sz="1200" dirty="0"/>
              <a:t>            for </a:t>
            </a:r>
            <a:r>
              <a:rPr lang="en-ID" sz="1200" dirty="0" err="1"/>
              <a:t>i</a:t>
            </a:r>
            <a:r>
              <a:rPr lang="en-ID" sz="1200" dirty="0"/>
              <a:t> in 1 to V_BACK loop</a:t>
            </a:r>
          </a:p>
          <a:p>
            <a:r>
              <a:rPr lang="en-ID" sz="1200" dirty="0"/>
              <a:t>                wait until </a:t>
            </a:r>
            <a:r>
              <a:rPr lang="en-ID" sz="1200" dirty="0" err="1"/>
              <a:t>rising_edge</a:t>
            </a:r>
            <a:r>
              <a:rPr lang="en-ID" sz="1200" dirty="0"/>
              <a:t>(</a:t>
            </a:r>
            <a:r>
              <a:rPr lang="en-ID" sz="1200" dirty="0" err="1"/>
              <a:t>vga_hs</a:t>
            </a:r>
            <a:r>
              <a:rPr lang="en-ID" sz="1200" dirty="0"/>
              <a:t>);</a:t>
            </a:r>
          </a:p>
          <a:p>
            <a:r>
              <a:rPr lang="en-ID" sz="1200" dirty="0"/>
              <a:t>            end loop;</a:t>
            </a:r>
          </a:p>
          <a:p>
            <a:endParaRPr lang="en-ID" sz="1200" dirty="0"/>
          </a:p>
          <a:p>
            <a:r>
              <a:rPr lang="en-ID" sz="1200" dirty="0"/>
              <a:t>            -- 6. Capture Visible Area (480 Lines)</a:t>
            </a:r>
          </a:p>
          <a:p>
            <a:r>
              <a:rPr lang="en-ID" sz="1200" dirty="0"/>
              <a:t>            for y in 0 to 479 loop</a:t>
            </a:r>
          </a:p>
          <a:p>
            <a:r>
              <a:rPr lang="en-ID" sz="1200" dirty="0"/>
              <a:t>                </a:t>
            </a:r>
          </a:p>
          <a:p>
            <a:r>
              <a:rPr lang="en-ID" sz="1200" dirty="0"/>
              <a:t>                -- Wait for HSYNC to end (Start of Back Porch)</a:t>
            </a:r>
          </a:p>
          <a:p>
            <a:r>
              <a:rPr lang="en-ID" sz="1200" dirty="0"/>
              <a:t>                wait until </a:t>
            </a:r>
            <a:r>
              <a:rPr lang="en-ID" sz="1200" dirty="0" err="1"/>
              <a:t>rising_edge</a:t>
            </a:r>
            <a:r>
              <a:rPr lang="en-ID" sz="1200" dirty="0"/>
              <a:t>(</a:t>
            </a:r>
            <a:r>
              <a:rPr lang="en-ID" sz="1200" dirty="0" err="1"/>
              <a:t>vga_hs</a:t>
            </a:r>
            <a:r>
              <a:rPr lang="en-ID" sz="1200" dirty="0"/>
              <a:t>);</a:t>
            </a:r>
          </a:p>
          <a:p>
            <a:r>
              <a:rPr lang="en-ID" sz="1200" dirty="0"/>
              <a:t>                </a:t>
            </a:r>
          </a:p>
          <a:p>
            <a:r>
              <a:rPr lang="en-ID" sz="1200" dirty="0"/>
              <a:t>                -- Wait through the Horizontal Back Porch</a:t>
            </a:r>
          </a:p>
          <a:p>
            <a:r>
              <a:rPr lang="en-ID" sz="1200" dirty="0"/>
              <a:t>                wait for H_BACK * </a:t>
            </a:r>
            <a:r>
              <a:rPr lang="en-ID" sz="1200" dirty="0" err="1"/>
              <a:t>pixel_time</a:t>
            </a:r>
            <a:r>
              <a:rPr lang="en-ID" sz="1200" dirty="0"/>
              <a:t>; </a:t>
            </a:r>
          </a:p>
          <a:p>
            <a:endParaRPr lang="en-ID" sz="1200" dirty="0"/>
          </a:p>
          <a:p>
            <a:r>
              <a:rPr lang="en-ID" sz="1200" dirty="0"/>
              <a:t>                -- Capture one line of pixels (640 Pixels)</a:t>
            </a:r>
          </a:p>
          <a:p>
            <a:r>
              <a:rPr lang="en-ID" sz="1200" dirty="0"/>
              <a:t>                for x in 0 to 639 loop</a:t>
            </a:r>
          </a:p>
          <a:p>
            <a:r>
              <a:rPr lang="en-ID" sz="1200" dirty="0"/>
              <a:t>                    -- Sample signals in the middle of the pixel</a:t>
            </a:r>
          </a:p>
          <a:p>
            <a:r>
              <a:rPr lang="en-ID" sz="1200" dirty="0"/>
              <a:t>                    wait for </a:t>
            </a:r>
            <a:r>
              <a:rPr lang="en-ID" sz="1200" dirty="0" err="1"/>
              <a:t>pixel_time</a:t>
            </a:r>
            <a:r>
              <a:rPr lang="en-ID" sz="1200" dirty="0"/>
              <a:t> / 2;</a:t>
            </a:r>
          </a:p>
          <a:p>
            <a:r>
              <a:rPr lang="en-ID" sz="1200" dirty="0"/>
              <a:t>                    </a:t>
            </a:r>
          </a:p>
          <a:p>
            <a:r>
              <a:rPr lang="en-ID" sz="1200" dirty="0"/>
              <a:t>                    </a:t>
            </a:r>
            <a:r>
              <a:rPr lang="en-ID" sz="1200" dirty="0" err="1"/>
              <a:t>r_int</a:t>
            </a:r>
            <a:r>
              <a:rPr lang="en-ID" sz="1200" dirty="0"/>
              <a:t> := </a:t>
            </a:r>
            <a:r>
              <a:rPr lang="en-ID" sz="1200" dirty="0" err="1"/>
              <a:t>to_integer</a:t>
            </a:r>
            <a:r>
              <a:rPr lang="en-ID" sz="1200" dirty="0"/>
              <a:t>(unsigned(</a:t>
            </a:r>
            <a:r>
              <a:rPr lang="en-ID" sz="1200" dirty="0" err="1"/>
              <a:t>vga_r</a:t>
            </a:r>
            <a:r>
              <a:rPr lang="en-ID" sz="1200" dirty="0"/>
              <a:t>));</a:t>
            </a:r>
          </a:p>
          <a:p>
            <a:r>
              <a:rPr lang="en-ID" sz="1200" dirty="0"/>
              <a:t>                    </a:t>
            </a:r>
            <a:r>
              <a:rPr lang="en-ID" sz="1200" dirty="0" err="1"/>
              <a:t>g_int</a:t>
            </a:r>
            <a:r>
              <a:rPr lang="en-ID" sz="1200" dirty="0"/>
              <a:t> := </a:t>
            </a:r>
            <a:r>
              <a:rPr lang="en-ID" sz="1200" dirty="0" err="1"/>
              <a:t>to_integer</a:t>
            </a:r>
            <a:r>
              <a:rPr lang="en-ID" sz="1200" dirty="0"/>
              <a:t>(unsigned(</a:t>
            </a:r>
            <a:r>
              <a:rPr lang="en-ID" sz="1200" dirty="0" err="1"/>
              <a:t>vga_g</a:t>
            </a:r>
            <a:r>
              <a:rPr lang="en-ID" sz="1200" dirty="0"/>
              <a:t>));</a:t>
            </a:r>
          </a:p>
          <a:p>
            <a:r>
              <a:rPr lang="en-ID" sz="1200" dirty="0"/>
              <a:t>                    </a:t>
            </a:r>
            <a:r>
              <a:rPr lang="en-ID" sz="1200" dirty="0" err="1"/>
              <a:t>b_int</a:t>
            </a:r>
            <a:r>
              <a:rPr lang="en-ID" sz="1200" dirty="0"/>
              <a:t> := </a:t>
            </a:r>
            <a:r>
              <a:rPr lang="en-ID" sz="1200" dirty="0" err="1"/>
              <a:t>to_integer</a:t>
            </a:r>
            <a:r>
              <a:rPr lang="en-ID" sz="1200" dirty="0"/>
              <a:t>(unsigned(</a:t>
            </a:r>
            <a:r>
              <a:rPr lang="en-ID" sz="1200" dirty="0" err="1"/>
              <a:t>vga_b</a:t>
            </a:r>
            <a:r>
              <a:rPr lang="en-ID" sz="1200" dirty="0"/>
              <a:t>));</a:t>
            </a:r>
          </a:p>
          <a:p>
            <a:r>
              <a:rPr lang="en-ID" sz="1200" dirty="0"/>
              <a:t>                    </a:t>
            </a:r>
          </a:p>
          <a:p>
            <a:r>
              <a:rPr lang="en-ID" sz="1200" dirty="0"/>
              <a:t>                    write(</a:t>
            </a:r>
            <a:r>
              <a:rPr lang="en-ID" sz="1200" dirty="0" err="1"/>
              <a:t>line_el</a:t>
            </a:r>
            <a:r>
              <a:rPr lang="en-ID" sz="1200" dirty="0"/>
              <a:t>, </a:t>
            </a:r>
            <a:r>
              <a:rPr lang="en-ID" sz="1200" dirty="0" err="1"/>
              <a:t>integer'image</a:t>
            </a:r>
            <a:r>
              <a:rPr lang="en-ID" sz="1200" dirty="0"/>
              <a:t>(</a:t>
            </a:r>
            <a:r>
              <a:rPr lang="en-ID" sz="1200" dirty="0" err="1"/>
              <a:t>r_int</a:t>
            </a:r>
            <a:r>
              <a:rPr lang="en-ID" sz="1200" dirty="0"/>
              <a:t>) &amp; " " &amp; </a:t>
            </a:r>
            <a:r>
              <a:rPr lang="en-ID" sz="1200" dirty="0" err="1"/>
              <a:t>integer'image</a:t>
            </a:r>
            <a:r>
              <a:rPr lang="en-ID" sz="1200" dirty="0"/>
              <a:t>(</a:t>
            </a:r>
            <a:r>
              <a:rPr lang="en-ID" sz="1200" dirty="0" err="1"/>
              <a:t>g_int</a:t>
            </a:r>
            <a:r>
              <a:rPr lang="en-ID" sz="1200" dirty="0"/>
              <a:t>) &amp; " " &amp; </a:t>
            </a:r>
            <a:r>
              <a:rPr lang="en-ID" sz="1200" dirty="0" err="1"/>
              <a:t>integer'image</a:t>
            </a:r>
            <a:r>
              <a:rPr lang="en-ID" sz="1200" dirty="0"/>
              <a:t>(</a:t>
            </a:r>
            <a:r>
              <a:rPr lang="en-ID" sz="1200" dirty="0" err="1"/>
              <a:t>b_int</a:t>
            </a:r>
            <a:r>
              <a:rPr lang="en-ID" sz="1200" dirty="0"/>
              <a:t>) &amp; "  ");</a:t>
            </a:r>
          </a:p>
          <a:p>
            <a:r>
              <a:rPr lang="en-ID" sz="1200" dirty="0"/>
              <a:t>                    </a:t>
            </a:r>
          </a:p>
          <a:p>
            <a:r>
              <a:rPr lang="en-ID" sz="1200" dirty="0"/>
              <a:t>                    wait for </a:t>
            </a:r>
            <a:r>
              <a:rPr lang="en-ID" sz="1200" dirty="0" err="1"/>
              <a:t>pixel_time</a:t>
            </a:r>
            <a:r>
              <a:rPr lang="en-ID" sz="1200" dirty="0"/>
              <a:t> / 2;</a:t>
            </a:r>
          </a:p>
          <a:p>
            <a:r>
              <a:rPr lang="en-ID" sz="1200" dirty="0"/>
              <a:t>                end loop;</a:t>
            </a:r>
          </a:p>
          <a:p>
            <a:r>
              <a:rPr lang="en-ID" sz="1200" dirty="0"/>
              <a:t>                </a:t>
            </a:r>
          </a:p>
          <a:p>
            <a:r>
              <a:rPr lang="en-ID" sz="1200" dirty="0"/>
              <a:t>                </a:t>
            </a:r>
            <a:r>
              <a:rPr lang="en-ID" sz="1200" dirty="0" err="1"/>
              <a:t>writeline</a:t>
            </a:r>
            <a:r>
              <a:rPr lang="en-ID" sz="1200" dirty="0"/>
              <a:t>(</a:t>
            </a:r>
            <a:r>
              <a:rPr lang="en-ID" sz="1200" dirty="0" err="1"/>
              <a:t>file_pointer</a:t>
            </a:r>
            <a:r>
              <a:rPr lang="en-ID" sz="1200" dirty="0"/>
              <a:t>, </a:t>
            </a:r>
            <a:r>
              <a:rPr lang="en-ID" sz="1200" dirty="0" err="1"/>
              <a:t>line_el</a:t>
            </a:r>
            <a:r>
              <a:rPr lang="en-ID" sz="1200" dirty="0"/>
              <a:t>);</a:t>
            </a:r>
          </a:p>
          <a:p>
            <a:r>
              <a:rPr lang="en-ID" sz="1200" dirty="0"/>
              <a:t>                </a:t>
            </a:r>
          </a:p>
          <a:p>
            <a:r>
              <a:rPr lang="en-ID" sz="1200" dirty="0"/>
              <a:t>            end loop;</a:t>
            </a:r>
          </a:p>
        </p:txBody>
      </p:sp>
    </p:spTree>
    <p:extLst>
      <p:ext uri="{BB962C8B-B14F-4D97-AF65-F5344CB8AC3E}">
        <p14:creationId xmlns:p14="http://schemas.microsoft.com/office/powerpoint/2010/main" val="277731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C7B188C-765C-03E4-90BB-DA6697B41F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9489" y="1006759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 -- Close file and stop simulation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file_close</a:t>
            </a:r>
            <a:r>
              <a:rPr lang="en-US" dirty="0"/>
              <a:t>(</a:t>
            </a:r>
            <a:r>
              <a:rPr lang="en-US" dirty="0" err="1"/>
              <a:t>file_pointer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            report "Image Generation Complete! Frame " &amp; </a:t>
            </a:r>
            <a:r>
              <a:rPr lang="en-US" dirty="0" err="1"/>
              <a:t>integer'image</a:t>
            </a:r>
            <a:r>
              <a:rPr lang="en-US" dirty="0"/>
              <a:t>(k) &amp; " captured.";</a:t>
            </a:r>
          </a:p>
          <a:p>
            <a:pPr marL="0" indent="0">
              <a:buNone/>
            </a:pPr>
            <a:r>
              <a:rPr lang="en-US" dirty="0"/>
              <a:t>        end loop;</a:t>
            </a:r>
          </a:p>
          <a:p>
            <a:pPr marL="0" indent="0">
              <a:buNone/>
            </a:pPr>
            <a:r>
              <a:rPr lang="en-US" dirty="0"/>
              <a:t>        </a:t>
            </a:r>
          </a:p>
          <a:p>
            <a:pPr marL="0" indent="0">
              <a:buNone/>
            </a:pPr>
            <a:r>
              <a:rPr lang="en-US" dirty="0"/>
              <a:t>        wait;</a:t>
            </a:r>
          </a:p>
          <a:p>
            <a:pPr marL="0" indent="0">
              <a:buNone/>
            </a:pPr>
            <a:r>
              <a:rPr lang="en-US" dirty="0"/>
              <a:t>        </a:t>
            </a:r>
          </a:p>
          <a:p>
            <a:pPr marL="0" indent="0">
              <a:buNone/>
            </a:pPr>
            <a:r>
              <a:rPr lang="en-US" dirty="0"/>
              <a:t>    end process;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end behavior;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355466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C4017-6434-1B9C-1773-295372BF25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Thank You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962339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865A644BE973A4CA876A130C80F62F3" ma:contentTypeVersion="12" ma:contentTypeDescription="Create a new document." ma:contentTypeScope="" ma:versionID="45d9bcb22981b8a87263a4c83cec1ba0">
  <xsd:schema xmlns:xsd="http://www.w3.org/2001/XMLSchema" xmlns:xs="http://www.w3.org/2001/XMLSchema" xmlns:p="http://schemas.microsoft.com/office/2006/metadata/properties" xmlns:ns3="01405a1c-8403-4836-a3d0-81042622b227" targetNamespace="http://schemas.microsoft.com/office/2006/metadata/properties" ma:root="true" ma:fieldsID="6a8ff07c0c5ef763527c8ca4effd5656" ns3:_="">
    <xsd:import namespace="01405a1c-8403-4836-a3d0-81042622b227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_activity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405a1c-8403-4836-a3d0-81042622b227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dexed="true" ma:internalName="MediaServiceLocation" ma:readOnly="true">
      <xsd:simpleType>
        <xsd:restriction base="dms:Text"/>
      </xsd:simpleType>
    </xsd:element>
    <xsd:element name="_activity" ma:index="18" nillable="true" ma:displayName="_activity" ma:hidden="true" ma:internalName="_activity">
      <xsd:simpleType>
        <xsd:restriction base="dms:Note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1405a1c-8403-4836-a3d0-81042622b227" xsi:nil="true"/>
  </documentManagement>
</p:properties>
</file>

<file path=customXml/itemProps1.xml><?xml version="1.0" encoding="utf-8"?>
<ds:datastoreItem xmlns:ds="http://schemas.openxmlformats.org/officeDocument/2006/customXml" ds:itemID="{737F5F5C-0C45-426E-B5A5-C5DCF245CC0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CEFE3AA-6A6B-4423-B372-E699A491733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1405a1c-8403-4836-a3d0-81042622b22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4849FD0-3917-4FD6-8067-D229149A54CF}">
  <ds:schemaRefs>
    <ds:schemaRef ds:uri="http://www.w3.org/XML/1998/namespace"/>
    <ds:schemaRef ds:uri="01405a1c-8403-4836-a3d0-81042622b227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156</TotalTime>
  <Words>1702</Words>
  <Application>Microsoft Office PowerPoint</Application>
  <PresentationFormat>Widescreen</PresentationFormat>
  <Paragraphs>214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Office Theme</vt:lpstr>
      <vt:lpstr>Kelompok 19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Ferdyano</dc:creator>
  <cp:lastModifiedBy>Ferdyano</cp:lastModifiedBy>
  <cp:revision>2</cp:revision>
  <dcterms:created xsi:type="dcterms:W3CDTF">2025-12-04T13:21:19Z</dcterms:created>
  <dcterms:modified xsi:type="dcterms:W3CDTF">2025-12-05T15:09:27Z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0x0101009865A644BE973A4CA876A130C80F62F3</vt:lpwstr>
  </property>
</Properties>
</file>